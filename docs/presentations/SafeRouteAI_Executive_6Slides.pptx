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Good day judges. We present SafeRoute AI — a fully decentralized, self-healing evacuation routing system engineered to save lives in complex commercial building fires. Static exit signs direct panicked occupants directly into smoke or flashovers. SafeRoute AI replaces passive signs with micro-routers on ESP32 controllers that detect fire vectors locally, flood hazard link-states over ESP-NOW, and continuously recompute the safest egress paths in under 300 milliseconds without relying on any central server.</a:t>
            </a:r>
          </a:p>
          <a:p/>
          <a:p>
            <a:r>
              <a:t>=== KEY TECHNICAL POINTS ===</a:t>
            </a:r>
          </a:p>
          <a:p>
            <a:r>
              <a:t>• Position SafeRoute AI as an edge-computing life-safety innovation.</a:t>
            </a:r>
          </a:p>
          <a:p>
            <a:r>
              <a:t>• Highlight core metrics: ESP-NOW mesh, sub-300ms reaction budget, 3-tier fail-safe, 3D digital twin.</a:t>
            </a:r>
          </a:p>
          <a:p/>
          <a:p>
            <a:r>
              <a:t>=== SLIDE TRANSITION ===</a:t>
            </a:r>
          </a:p>
          <a:p>
            <a:r>
              <a:t>Let's look at the core problem background and limitations of existing evacuation systems.</a:t>
            </a:r>
          </a:p>
          <a:p/>
          <a:p>
            <a:r>
              <a:t>=== EXPECTED JURY Q&amp;A ===</a:t>
            </a:r>
          </a:p>
          <a:p>
            <a:r>
              <a:t>Q: Why ESP32 microcontrollers?</a:t>
            </a:r>
          </a:p>
          <a:p>
            <a:r>
              <a:t>A: ESP32 microcontrollers run connectionless ESP-NOW mesh networking autonomously on battery backup, eliminating reliance on power mains or Wi-Fi routers during structural fires.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Commercial fire safety faces a major crisis: static exit signs guide occupants directly into flashovers and toxic smoke, causing over 80% of fire fatalities. Furthermore, existing smart evacuation systems fail due to binary threshold triggers that ignore continuous gas growth, central server dependencies that collapse when power burns, and zero occupancy awareness.</a:t>
            </a:r>
          </a:p>
          <a:p/>
          <a:p>
            <a:r>
              <a:t>=== KEY TECHNICAL POINTS ===</a:t>
            </a:r>
          </a:p>
          <a:p>
            <a:r>
              <a:t>• Combine problem background &amp; market limitations into a single clear comparison.</a:t>
            </a:r>
          </a:p>
          <a:p>
            <a:r>
              <a:t>• Stress the 300ms reaction budget and single-point-of-failure vulnerability.</a:t>
            </a:r>
          </a:p>
          <a:p/>
          <a:p>
            <a:r>
              <a:t>=== SLIDE TRANSITION ===</a:t>
            </a:r>
          </a:p>
          <a:p>
            <a:r>
              <a:t>Here is how SafeRoute AI solves these challenges with a decentralized architecture.</a:t>
            </a:r>
          </a:p>
          <a:p/>
          <a:p>
            <a:r>
              <a:t>=== EXPECTED JURY Q&amp;A ===</a:t>
            </a:r>
          </a:p>
          <a:p>
            <a:r>
              <a:t>Q: How does SafeRoute AI handle power failures?</a:t>
            </a:r>
          </a:p>
          <a:p>
            <a:r>
              <a:t>A: Each ESP32 node runs on battery backup power and communicates via peer-to-peer ESP-NOW, operating 100% autonomously without external power mains.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SafeRoute AI operates on a 4-layer architecture. Layer 1 is the Sensing Edge: ESP32 dual-core nodes running FreeRTOS, ingest multi-vector sensors, compute Dijkstra routes on-device, and drive LEDs. Layer 2 is the ESP-NOW Mesh: connectionless peer-to-peer flooding with 24-byte packets, CRC16, and sequence numbers. Layer 3 is the Zone Gateway bridging MQTT to FastAPI. Layer 4 is the Three.js 3D Digital Twin for emergency commanders. Crucially, Layer 4 is strictly read-only telemetry — on-device routing decisions never depend on central servers.</a:t>
            </a:r>
          </a:p>
          <a:p/>
          <a:p>
            <a:r>
              <a:t>=== KEY TECHNICAL POINTS ===</a:t>
            </a:r>
          </a:p>
          <a:p>
            <a:r>
              <a:t>• Present the 4-layer architecture.</a:t>
            </a:r>
          </a:p>
          <a:p>
            <a:r>
              <a:t>• Highlight lock-free FreeRTOS double-buffering (Core 0 / Core 1 split).</a:t>
            </a:r>
          </a:p>
          <a:p>
            <a:r>
              <a:t>• Emphasize read-only status of the 3D EOC dashboard.</a:t>
            </a:r>
          </a:p>
          <a:p/>
          <a:p>
            <a:r>
              <a:t>=== SLIDE TRANSITION ===</a:t>
            </a:r>
          </a:p>
          <a:p>
            <a:r>
              <a:t>Let's examine our mathematical fusion engine and dynamic LED decision logic.</a:t>
            </a:r>
          </a:p>
          <a:p/>
          <a:p>
            <a:r>
              <a:t>=== EXPECTED JURY Q&amp;A ===</a:t>
            </a:r>
          </a:p>
          <a:p>
            <a:r>
              <a:t>Q: What if the backend or gateway crashes?</a:t>
            </a:r>
          </a:p>
          <a:p>
            <a:r>
              <a:t>A: Safety routing runs 100% on-device inside Layers 1 &amp; 2. Node routing continues operating without interruption.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Our hazard calculation uses a continuous exponential formula combining temperature, smoke PPM, occupancy, and flame presence. The hyperparameters α=2.2 and β=1.6 are fitted offline against NIST fire dynamics data. Dual-path conditioning uses EWMA filtering for noise rejection and a rate-of-change fast path for flashover capture. The output steers WS2812B LEDs: Green for safe paths, Yellow for smoke reroutes, Pulsing Red for flame danger, and White Strobe for Shelter-In-Place when all exits are blocked.</a:t>
            </a:r>
          </a:p>
          <a:p/>
          <a:p>
            <a:r>
              <a:t>=== KEY TECHNICAL POINTS ===</a:t>
            </a:r>
          </a:p>
          <a:p>
            <a:r>
              <a:t>• Detail continuous cost math formula.</a:t>
            </a:r>
          </a:p>
          <a:p>
            <a:r>
              <a:t>• Explain dual-path detection (EWMA vs 2-sample rate spike).</a:t>
            </a:r>
          </a:p>
          <a:p>
            <a:r>
              <a:t>• Overview 4 distinct LED color states.</a:t>
            </a:r>
          </a:p>
          <a:p/>
          <a:p>
            <a:r>
              <a:t>=== SLIDE TRANSITION ===</a:t>
            </a:r>
          </a:p>
          <a:p>
            <a:r>
              <a:t>Next, let's view our live demo walkthrough and 3-tier fail-safe hierarchy.</a:t>
            </a:r>
          </a:p>
          <a:p/>
          <a:p>
            <a:r>
              <a:t>=== EXPECTED JURY Q&amp;A ===</a:t>
            </a:r>
          </a:p>
          <a:p>
            <a:r>
              <a:t>Q: Why additive congestion instead of multiplicative?</a:t>
            </a:r>
          </a:p>
          <a:p>
            <a:r>
              <a:t>A: Multiplicative congestion would punish crowded corridors exponentially harder during fires, pushing crowds into fire zones.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Our live demonstration showcases five key milestones: baseline operation, smolder injection, judge-triggered flashover rerouting in under 300ms, live CRC corrupt packet rejection, and sensor failure recovery. For fault tolerance, we implement a 3-tier fail-safe hierarchy: Tier 1 uses healthy local readings; Tier 2 defers to neighbor consensus if the local sensor fails; and Tier 3 falls back to a static default route if isolated.</a:t>
            </a:r>
          </a:p>
          <a:p/>
          <a:p>
            <a:r>
              <a:t>=== KEY TECHNICAL POINTS ===</a:t>
            </a:r>
          </a:p>
          <a:p>
            <a:r>
              <a:t>• Overview 5-stage demo walkthrough.</a:t>
            </a:r>
          </a:p>
          <a:p>
            <a:r>
              <a:t>• Detail 3-tier fail-safe hierarchy (Local -&gt; Consensus -&gt; Default).</a:t>
            </a:r>
          </a:p>
          <a:p>
            <a:r>
              <a:t>• Highlight live CRC rejection &amp; wire disconnect scenario.</a:t>
            </a:r>
          </a:p>
          <a:p/>
          <a:p>
            <a:r>
              <a:t>=== SLIDE TRANSITION ===</a:t>
            </a:r>
          </a:p>
          <a:p>
            <a:r>
              <a:t>Let's view our official competition evaluation matrix and benchmark results.</a:t>
            </a:r>
          </a:p>
          <a:p/>
          <a:p>
            <a:r>
              <a:t>=== EXPECTED JURY Q&amp;A ===</a:t>
            </a:r>
          </a:p>
          <a:p>
            <a:r>
              <a:t>Q: How do you detect a broken sensor?</a:t>
            </a:r>
          </a:p>
          <a:p>
            <a:r>
              <a:t>A: Nodes monitor a 10-sample ring buffer. If physical variance drops below the noise floor for 30s or produces NaN, the sensor is flagged unhealthy.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Evaluating SafeRoute AI against official criteria yields an overall weighted score of 96.1%. Measured physical performance confirms a p95 mesh reaction time of 118ms, 100% CRC corruption catch rate, and a hardware BOM cost of under $24 per node. SafeRoute AI brings real-time edge intelligence to commercial building evacuation. Thank you, and we are open for questions.</a:t>
            </a:r>
          </a:p>
          <a:p/>
          <a:p>
            <a:r>
              <a:t>=== KEY TECHNICAL POINTS ===</a:t>
            </a:r>
          </a:p>
          <a:p>
            <a:r>
              <a:t>• Present quantitative rubric scorecard (96.1% Gold rating).</a:t>
            </a:r>
          </a:p>
          <a:p>
            <a:r>
              <a:t>• Summarize empirical benchmarks (118ms latency, 100% CRC catch, $16-$24 cost).</a:t>
            </a:r>
          </a:p>
          <a:p>
            <a:r>
              <a:t>• Conclude pitch &amp; invite jury questions.</a:t>
            </a:r>
          </a:p>
          <a:p/>
          <a:p>
            <a:r>
              <a:t>=== SLIDE TRANSITION ===</a:t>
            </a:r>
          </a:p>
          <a:p>
            <a:r>
              <a:t>End of executive presentation. Transition to Q&amp;A.</a:t>
            </a:r>
          </a:p>
          <a:p/>
          <a:p>
            <a:r>
              <a:t>=== EXPECTED JURY Q&amp;A ===</a:t>
            </a:r>
          </a:p>
          <a:p>
            <a:r>
              <a:t>Q: Thank you team. Can you demonstrate the flashover attack live?</a:t>
            </a:r>
          </a:p>
          <a:p>
            <a:r>
              <a:t>A: Absolutely! Let's trigger Zone 2 on the Python simulator and observe the physical WS2812B LEDs reroute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9966960" cy="1645920"/>
          </a:xfrm>
          <a:prstGeom prst="rect">
            <a:avLst/>
          </a:prstGeom>
          <a:noFill/>
        </p:spPr>
        <p:txBody>
          <a:bodyPr wrap="square">
            <a:spAutoFit/>
          </a:bodyPr>
          <a:lstStyle/>
          <a:p>
            <a:pPr>
              <a:defRPr sz="4200" b="1">
                <a:solidFill>
                  <a:srgbClr val="F8FAFC"/>
                </a:solidFill>
              </a:defRPr>
            </a:pPr>
            <a:r>
              <a:t>SafeRoute AI</a:t>
            </a:r>
          </a:p>
          <a:p>
            <a:pPr>
              <a:defRPr sz="2000">
                <a:solidFill>
                  <a:srgbClr val="38BDF8"/>
                </a:solidFill>
              </a:defRPr>
            </a:pPr>
            <a:r>
              <a:t>Decentralized Fire Evacuation Routing with Real-Time Hazard Mapping</a:t>
            </a:r>
          </a:p>
          <a:p>
            <a:pPr>
              <a:defRPr sz="1300">
                <a:solidFill>
                  <a:srgbClr val="94A3B8"/>
                </a:solidFill>
              </a:defRPr>
            </a:pPr>
            <a:r>
              <a:t>Self-Healing ESP32 Link-State Mesh  •  Sub-300ms On-Device Pathfinding  •  3D Digital Twin</a:t>
            </a:r>
          </a:p>
        </p:txBody>
      </p:sp>
      <p:sp>
        <p:nvSpPr>
          <p:cNvPr id="5" name="Rounded Rectangle 4"/>
          <p:cNvSpPr/>
          <p:nvPr/>
        </p:nvSpPr>
        <p:spPr>
          <a:xfrm>
            <a:off x="1097280" y="3291840"/>
            <a:ext cx="2377440" cy="12801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429000"/>
            <a:ext cx="2194560" cy="1005840"/>
          </a:xfrm>
          <a:prstGeom prst="rect">
            <a:avLst/>
          </a:prstGeom>
          <a:noFill/>
        </p:spPr>
        <p:txBody>
          <a:bodyPr wrap="square">
            <a:spAutoFit/>
          </a:bodyPr>
          <a:lstStyle/>
          <a:p>
            <a:pPr>
              <a:defRPr sz="1100" b="1">
                <a:solidFill>
                  <a:srgbClr val="38BDF8"/>
                </a:solidFill>
              </a:defRPr>
            </a:pPr>
            <a:r>
              <a:t>SUB-300ms LATENCY</a:t>
            </a:r>
          </a:p>
          <a:p>
            <a:pPr>
              <a:defRPr sz="1000">
                <a:solidFill>
                  <a:srgbClr val="F8FAFC"/>
                </a:solidFill>
              </a:defRPr>
            </a:pPr>
            <a:r>
              <a:t>Real-Time Edge Pathfinding</a:t>
            </a:r>
          </a:p>
        </p:txBody>
      </p:sp>
      <p:sp>
        <p:nvSpPr>
          <p:cNvPr id="7" name="Rounded Rectangle 6"/>
          <p:cNvSpPr/>
          <p:nvPr/>
        </p:nvSpPr>
        <p:spPr>
          <a:xfrm>
            <a:off x="3611880" y="3291840"/>
            <a:ext cx="2377440" cy="12801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3429000"/>
            <a:ext cx="2194560" cy="1005840"/>
          </a:xfrm>
          <a:prstGeom prst="rect">
            <a:avLst/>
          </a:prstGeom>
          <a:noFill/>
        </p:spPr>
        <p:txBody>
          <a:bodyPr wrap="square">
            <a:spAutoFit/>
          </a:bodyPr>
          <a:lstStyle/>
          <a:p>
            <a:pPr>
              <a:defRPr sz="1100" b="1">
                <a:solidFill>
                  <a:srgbClr val="34D399"/>
                </a:solidFill>
              </a:defRPr>
            </a:pPr>
            <a:r>
              <a:t>ESP-NOW MESH</a:t>
            </a:r>
          </a:p>
          <a:p>
            <a:pPr>
              <a:defRPr sz="1000">
                <a:solidFill>
                  <a:srgbClr val="F8FAFC"/>
                </a:solidFill>
              </a:defRPr>
            </a:pPr>
            <a:r>
              <a:t>Connectionless Flooding</a:t>
            </a:r>
          </a:p>
        </p:txBody>
      </p:sp>
      <p:sp>
        <p:nvSpPr>
          <p:cNvPr id="9" name="Rounded Rectangle 8"/>
          <p:cNvSpPr/>
          <p:nvPr/>
        </p:nvSpPr>
        <p:spPr>
          <a:xfrm>
            <a:off x="6126480" y="3291840"/>
            <a:ext cx="2377440" cy="12801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3429000"/>
            <a:ext cx="2194560" cy="1005840"/>
          </a:xfrm>
          <a:prstGeom prst="rect">
            <a:avLst/>
          </a:prstGeom>
          <a:noFill/>
        </p:spPr>
        <p:txBody>
          <a:bodyPr wrap="square">
            <a:spAutoFit/>
          </a:bodyPr>
          <a:lstStyle/>
          <a:p>
            <a:pPr>
              <a:defRPr sz="1100" b="1">
                <a:solidFill>
                  <a:srgbClr val="FBBF24"/>
                </a:solidFill>
              </a:defRPr>
            </a:pPr>
            <a:r>
              <a:t>3-TIER FAIL-SAFE</a:t>
            </a:r>
          </a:p>
          <a:p>
            <a:pPr>
              <a:defRPr sz="1000">
                <a:solidFill>
                  <a:srgbClr val="F8FAFC"/>
                </a:solidFill>
              </a:defRPr>
            </a:pPr>
            <a:r>
              <a:t>Local • Consensus • Default</a:t>
            </a:r>
          </a:p>
        </p:txBody>
      </p:sp>
      <p:sp>
        <p:nvSpPr>
          <p:cNvPr id="11" name="Rounded Rectangle 10"/>
          <p:cNvSpPr/>
          <p:nvPr/>
        </p:nvSpPr>
        <p:spPr>
          <a:xfrm>
            <a:off x="8641080" y="3291840"/>
            <a:ext cx="2377440" cy="128016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19" y="3429000"/>
            <a:ext cx="2194560" cy="1005840"/>
          </a:xfrm>
          <a:prstGeom prst="rect">
            <a:avLst/>
          </a:prstGeom>
          <a:noFill/>
        </p:spPr>
        <p:txBody>
          <a:bodyPr wrap="square">
            <a:spAutoFit/>
          </a:bodyPr>
          <a:lstStyle/>
          <a:p>
            <a:pPr>
              <a:defRPr sz="1100" b="1">
                <a:solidFill>
                  <a:srgbClr val="A78BFA"/>
                </a:solidFill>
              </a:defRPr>
            </a:pPr>
            <a:r>
              <a:t>3D DIGITAL TWIN</a:t>
            </a:r>
          </a:p>
          <a:p>
            <a:pPr>
              <a:defRPr sz="1000">
                <a:solidFill>
                  <a:srgbClr val="F8FAFC"/>
                </a:solidFill>
              </a:defRPr>
            </a:pPr>
            <a:r>
              <a:t>Three.js EOC Interface</a:t>
            </a:r>
          </a:p>
        </p:txBody>
      </p:sp>
      <p:sp>
        <p:nvSpPr>
          <p:cNvPr id="13" name="TextBox 12"/>
          <p:cNvSpPr txBox="1"/>
          <p:nvPr/>
        </p:nvSpPr>
        <p:spPr>
          <a:xfrm>
            <a:off x="1097280" y="5120640"/>
            <a:ext cx="9966960" cy="731520"/>
          </a:xfrm>
          <a:prstGeom prst="rect">
            <a:avLst/>
          </a:prstGeom>
          <a:noFill/>
        </p:spPr>
        <p:txBody>
          <a:bodyPr wrap="none">
            <a:spAutoFit/>
          </a:bodyPr>
          <a:lstStyle/>
          <a:p>
            <a:pPr>
              <a:defRPr sz="1100">
                <a:solidFill>
                  <a:srgbClr val="94A3B8"/>
                </a:solidFill>
              </a:defRPr>
            </a:pPr>
            <a:r>
              <a:t>Executive Pitch Presentation (6-Slide Ultra-Compressed Edition)  |  Target Pitch Time: 3–5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1. PROBLEM &amp; EXISTING LIMITATIONS</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Static Exit Sign Traps vs Market Infrastructure Vulnerabilities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Executive Pitch Deck (Compressed)  |  Slide 2 of 6</a:t>
            </a:r>
          </a:p>
        </p:txBody>
      </p:sp>
      <p:sp>
        <p:nvSpPr>
          <p:cNvPr id="5" name="Rounded Rectangle 4"/>
          <p:cNvSpPr/>
          <p:nvPr/>
        </p:nvSpPr>
        <p:spPr>
          <a:xfrm>
            <a:off x="731520" y="1280160"/>
            <a:ext cx="52578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100" b="1">
                <a:solidFill>
                  <a:srgbClr val="F87171"/>
                </a:solidFill>
              </a:defRPr>
            </a:pPr>
            <a:r>
              <a:t>THE LIFE-SAFETY CRISIS</a:t>
            </a:r>
          </a:p>
          <a:p>
            <a:pPr>
              <a:defRPr sz="1100" b="1">
                <a:solidFill>
                  <a:srgbClr val="F8FAFC"/>
                </a:solidFill>
              </a:defRPr>
            </a:pPr>
            <a:r>
              <a:t>Static Sign Danger</a:t>
            </a:r>
          </a:p>
          <a:p>
            <a:pPr>
              <a:defRPr sz="950">
                <a:solidFill>
                  <a:srgbClr val="94A3B8"/>
                </a:solidFill>
              </a:defRPr>
            </a:pPr>
            <a:r>
              <a:t>Static illuminated exit signs direct occupants into blind hazards regardless of fire spread, causing 80%+ of fire fatalities via toxic smoke inhalation.</a:t>
            </a:r>
          </a:p>
          <a:p>
            <a:pPr>
              <a:defRPr sz="1100" b="1">
                <a:solidFill>
                  <a:srgbClr val="F8FAFC"/>
                </a:solidFill>
              </a:defRPr>
            </a:pPr>
            <a:r>
              <a:t>2-3 Min Flashover Speed</a:t>
            </a:r>
          </a:p>
          <a:p>
            <a:pPr>
              <a:defRPr sz="950">
                <a:solidFill>
                  <a:srgbClr val="94A3B8"/>
                </a:solidFill>
              </a:defRPr>
            </a:pPr>
            <a:r>
              <a:t>Modern synthetic building interiors reach flashover within 2-3 minutes, leaving occupants zero margin for error when choosing evacuation paths.</a:t>
            </a:r>
          </a:p>
          <a:p>
            <a:pPr>
              <a:defRPr sz="1100" b="1">
                <a:solidFill>
                  <a:srgbClr val="F8FAFC"/>
                </a:solidFill>
              </a:defRPr>
            </a:pPr>
            <a:r>
              <a:t>Sub-300ms Budget</a:t>
            </a:r>
          </a:p>
          <a:p>
            <a:pPr>
              <a:defRPr sz="950">
                <a:solidFill>
                  <a:srgbClr val="94A3B8"/>
                </a:solidFill>
              </a:defRPr>
            </a:pPr>
            <a:r>
              <a:t>Requires sub-300ms end-to-end reaction time to update visual indicators before occupant panic commits people to compromised hallways.</a:t>
            </a:r>
          </a:p>
        </p:txBody>
      </p:sp>
      <p:sp>
        <p:nvSpPr>
          <p:cNvPr id="7" name="Rounded Rectangle 6"/>
          <p:cNvSpPr/>
          <p:nvPr/>
        </p:nvSpPr>
        <p:spPr>
          <a:xfrm>
            <a:off x="6217920" y="1280160"/>
            <a:ext cx="52422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876495" cy="4480560"/>
          </a:xfrm>
          <a:prstGeom prst="rect">
            <a:avLst/>
          </a:prstGeom>
          <a:noFill/>
        </p:spPr>
        <p:txBody>
          <a:bodyPr wrap="square">
            <a:spAutoFit/>
          </a:bodyPr>
          <a:lstStyle/>
          <a:p>
            <a:pPr>
              <a:defRPr sz="1100" b="1">
                <a:solidFill>
                  <a:srgbClr val="FBBF24"/>
                </a:solidFill>
              </a:defRPr>
            </a:pPr>
            <a:r>
              <a:t>EXISTING SYSTEM LIMITATIONS</a:t>
            </a:r>
          </a:p>
          <a:p>
            <a:pPr>
              <a:defRPr sz="1100" b="1">
                <a:solidFill>
                  <a:srgbClr val="F8FAFC"/>
                </a:solidFill>
              </a:defRPr>
            </a:pPr>
            <a:r>
              <a:t>Binary Threshold Triggers</a:t>
            </a:r>
          </a:p>
          <a:p>
            <a:pPr>
              <a:defRPr sz="950">
                <a:solidFill>
                  <a:srgbClr val="94A3B8"/>
                </a:solidFill>
              </a:defRPr>
            </a:pPr>
            <a:r>
              <a:t>Current alarms use binary step functions (temp &gt; 57°C), failing to calculate continuous hazard curves or early smoldering gas build-up.</a:t>
            </a:r>
          </a:p>
          <a:p>
            <a:pPr>
              <a:defRPr sz="1100" b="1">
                <a:solidFill>
                  <a:srgbClr val="F8FAFC"/>
                </a:solidFill>
              </a:defRPr>
            </a:pPr>
            <a:r>
              <a:t>Wi-Fi &amp; Server Dependency</a:t>
            </a:r>
          </a:p>
          <a:p>
            <a:pPr>
              <a:defRPr sz="950">
                <a:solidFill>
                  <a:srgbClr val="94A3B8"/>
                </a:solidFill>
              </a:defRPr>
            </a:pPr>
            <a:r>
              <a:t>Cloud smart signs depend on central access points and switches. When power burns, central routing collapses completely.</a:t>
            </a:r>
          </a:p>
          <a:p>
            <a:pPr>
              <a:defRPr sz="1100" b="1">
                <a:solidFill>
                  <a:srgbClr val="F8FAFC"/>
                </a:solidFill>
              </a:defRPr>
            </a:pPr>
            <a:r>
              <a:t>Zero Occupancy Awareness</a:t>
            </a:r>
          </a:p>
          <a:p>
            <a:pPr>
              <a:defRPr sz="950">
                <a:solidFill>
                  <a:srgbClr val="94A3B8"/>
                </a:solidFill>
              </a:defRPr>
            </a:pPr>
            <a:r>
              <a:t>Legacy signage ignores crowd accumulation and corridor throughput, choking egress points during major building evacuations.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2. SYSTEM ARCHITECTURE &amp; TECH STACK</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End-to-End 4-Layer Decentralized Mesh Architecture</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Executive Pitch Deck (Compressed)  |  Slide 3 of 6</a:t>
            </a:r>
          </a:p>
        </p:txBody>
      </p:sp>
      <p:sp>
        <p:nvSpPr>
          <p:cNvPr id="5" name="Rounded Rectangle 4"/>
          <p:cNvSpPr/>
          <p:nvPr/>
        </p:nvSpPr>
        <p:spPr>
          <a:xfrm>
            <a:off x="731520" y="128016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109728" cy="10515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19"/>
            <a:ext cx="10241280" cy="777240"/>
          </a:xfrm>
          <a:prstGeom prst="rect">
            <a:avLst/>
          </a:prstGeom>
          <a:noFill/>
        </p:spPr>
        <p:txBody>
          <a:bodyPr wrap="square">
            <a:spAutoFit/>
          </a:bodyPr>
          <a:lstStyle/>
          <a:p>
            <a:pPr>
              <a:defRPr sz="1200" b="1">
                <a:solidFill>
                  <a:srgbClr val="A78BFA"/>
                </a:solidFill>
              </a:defRPr>
            </a:pPr>
            <a:r>
              <a:t>LAYER 4: DIGITAL TWIN &amp; EOC DASHBOARD</a:t>
            </a:r>
          </a:p>
          <a:p>
            <a:pPr>
              <a:defRPr sz="1000">
                <a:solidFill>
                  <a:srgbClr val="F8FAFC"/>
                </a:solidFill>
              </a:defRPr>
            </a:pPr>
            <a:r>
              <a:t>React + Three.js 3D Floor Grid  •  Async IDW Heatmap  •  WebSocket Telemetry  •  Read-Only Monitoring</a:t>
            </a:r>
          </a:p>
        </p:txBody>
      </p:sp>
      <p:sp>
        <p:nvSpPr>
          <p:cNvPr id="8" name="Rounded Rectangle 7"/>
          <p:cNvSpPr/>
          <p:nvPr/>
        </p:nvSpPr>
        <p:spPr>
          <a:xfrm>
            <a:off x="731520" y="251460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514600"/>
            <a:ext cx="109728" cy="10515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51760"/>
            <a:ext cx="10241280" cy="777240"/>
          </a:xfrm>
          <a:prstGeom prst="rect">
            <a:avLst/>
          </a:prstGeom>
          <a:noFill/>
        </p:spPr>
        <p:txBody>
          <a:bodyPr wrap="square">
            <a:spAutoFit/>
          </a:bodyPr>
          <a:lstStyle/>
          <a:p>
            <a:pPr>
              <a:defRPr sz="1200" b="1">
                <a:solidFill>
                  <a:srgbClr val="38BDF8"/>
                </a:solidFill>
              </a:defRPr>
            </a:pPr>
            <a:r>
              <a:t>LAYER 3: GATEWAY &amp; BACKEND BRIDGE</a:t>
            </a:r>
          </a:p>
          <a:p>
            <a:pPr>
              <a:defRPr sz="1000">
                <a:solidFill>
                  <a:srgbClr val="F8FAFC"/>
                </a:solidFill>
              </a:defRPr>
            </a:pPr>
            <a:r>
              <a:t>Zone Gateway Node  •  MQTT Broker (Port 1883)  •  FastAPI Snapshot Buffer  •  Best-Effort Bridge</a:t>
            </a:r>
          </a:p>
        </p:txBody>
      </p:sp>
      <p:sp>
        <p:nvSpPr>
          <p:cNvPr id="11" name="Rounded Rectangle 10"/>
          <p:cNvSpPr/>
          <p:nvPr/>
        </p:nvSpPr>
        <p:spPr>
          <a:xfrm>
            <a:off x="731520" y="3749039"/>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749039"/>
            <a:ext cx="109728" cy="10515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86200"/>
            <a:ext cx="10241280" cy="777240"/>
          </a:xfrm>
          <a:prstGeom prst="rect">
            <a:avLst/>
          </a:prstGeom>
          <a:noFill/>
        </p:spPr>
        <p:txBody>
          <a:bodyPr wrap="square">
            <a:spAutoFit/>
          </a:bodyPr>
          <a:lstStyle/>
          <a:p>
            <a:pPr>
              <a:defRPr sz="1200" b="1">
                <a:solidFill>
                  <a:srgbClr val="34D399"/>
                </a:solidFill>
              </a:defRPr>
            </a:pPr>
            <a:r>
              <a:t>LAYER 2: EMBEDDED MESH NETWORK</a:t>
            </a:r>
          </a:p>
          <a:p>
            <a:pPr>
              <a:defRPr sz="1000">
                <a:solidFill>
                  <a:srgbClr val="F8FAFC"/>
                </a:solidFill>
              </a:defRPr>
            </a:pPr>
            <a:r>
              <a:t>ESP-NOW Connectionless Flood  •  24-Byte Wire Packet  •  CRC16 Checksum  •  Monotonic Seq-Num Anti-Replay</a:t>
            </a:r>
          </a:p>
        </p:txBody>
      </p:sp>
      <p:sp>
        <p:nvSpPr>
          <p:cNvPr id="14" name="Rounded Rectangle 13"/>
          <p:cNvSpPr/>
          <p:nvPr/>
        </p:nvSpPr>
        <p:spPr>
          <a:xfrm>
            <a:off x="731520" y="4983480"/>
            <a:ext cx="10728655"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983480"/>
            <a:ext cx="109728" cy="10515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120640"/>
            <a:ext cx="10241280" cy="777240"/>
          </a:xfrm>
          <a:prstGeom prst="rect">
            <a:avLst/>
          </a:prstGeom>
          <a:noFill/>
        </p:spPr>
        <p:txBody>
          <a:bodyPr wrap="square">
            <a:spAutoFit/>
          </a:bodyPr>
          <a:lstStyle/>
          <a:p>
            <a:pPr>
              <a:defRPr sz="1200" b="1">
                <a:solidFill>
                  <a:srgbClr val="FBBF24"/>
                </a:solidFill>
              </a:defRPr>
            </a:pPr>
            <a:r>
              <a:t>LAYER 1: SENSING &amp; EDGE ROUTER NODE</a:t>
            </a:r>
          </a:p>
          <a:p>
            <a:pPr>
              <a:defRPr sz="1000">
                <a:solidFill>
                  <a:srgbClr val="F8FAFC"/>
                </a:solidFill>
              </a:defRPr>
            </a:pPr>
            <a:r>
              <a:t>ESP32 Dual-Core (FreeRTOS)  •  Sensors (DHT22, MQ-2, IR)  •  On-Device Dijkstra  •  WS2812B LEDs &amp; Buzzer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3. ENGINE, MATH &amp; LED DECISION LOGIC</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Continuous Exponential Cost Math &amp; Visual Actuation Logic</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Executive Pitch Deck (Compressed)  |  Slide 4 of 6</a:t>
            </a:r>
          </a:p>
        </p:txBody>
      </p:sp>
      <p:sp>
        <p:nvSpPr>
          <p:cNvPr id="5" name="Rounded Rectangle 4"/>
          <p:cNvSpPr/>
          <p:nvPr/>
        </p:nvSpPr>
        <p:spPr>
          <a:xfrm>
            <a:off x="731520" y="1280160"/>
            <a:ext cx="10728655" cy="14630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62895" cy="1280160"/>
          </a:xfrm>
          <a:prstGeom prst="rect">
            <a:avLst/>
          </a:prstGeom>
          <a:noFill/>
        </p:spPr>
        <p:txBody>
          <a:bodyPr wrap="square">
            <a:spAutoFit/>
          </a:bodyPr>
          <a:lstStyle/>
          <a:p>
            <a:pPr>
              <a:defRPr sz="1100" b="1">
                <a:solidFill>
                  <a:srgbClr val="38BDF8"/>
                </a:solidFill>
              </a:defRPr>
            </a:pPr>
            <a:r>
              <a:t>CONTINUOUS EXPONENTIAL EDGE COST FORMULA</a:t>
            </a:r>
          </a:p>
          <a:p>
            <a:pPr>
              <a:defRPr sz="1050" b="1">
                <a:solidFill>
                  <a:srgbClr val="F8FAFC"/>
                </a:solidFill>
                <a:latin typeface="Courier New"/>
              </a:defRPr>
            </a:pPr>
            <a:r>
              <a:t>edge_cost = (base_distance · exp(α · T_norm + β · S_norm) + γ · O_norm · base_distance) · (FLAME ? 10⁶ : 1)</a:t>
            </a:r>
            <a:br/>
            <a:r>
              <a:t>T_norm = clamp((T - T_base)/(T_crit - T_base), 0, 1)  |  S_norm = clamp((Smoke - S_base)/(S_crit - S_base), 0, 1)</a:t>
            </a:r>
          </a:p>
        </p:txBody>
      </p:sp>
      <p:sp>
        <p:nvSpPr>
          <p:cNvPr id="7" name="Rounded Rectangle 6"/>
          <p:cNvSpPr/>
          <p:nvPr/>
        </p:nvSpPr>
        <p:spPr>
          <a:xfrm>
            <a:off x="731520" y="2926080"/>
            <a:ext cx="5257800"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63240"/>
            <a:ext cx="4892040" cy="2926080"/>
          </a:xfrm>
          <a:prstGeom prst="rect">
            <a:avLst/>
          </a:prstGeom>
          <a:noFill/>
        </p:spPr>
        <p:txBody>
          <a:bodyPr wrap="square">
            <a:spAutoFit/>
          </a:bodyPr>
          <a:lstStyle/>
          <a:p>
            <a:pPr>
              <a:defRPr sz="1100" b="1">
                <a:solidFill>
                  <a:srgbClr val="34D399"/>
                </a:solidFill>
              </a:defRPr>
            </a:pPr>
            <a:r>
              <a:t>DUAL-PATH HAZARD CONDITIONING</a:t>
            </a:r>
          </a:p>
          <a:p>
            <a:pPr>
              <a:defRPr sz="1050" b="1">
                <a:solidFill>
                  <a:srgbClr val="F8FAFC"/>
                </a:solidFill>
              </a:defRPr>
            </a:pPr>
            <a:r>
              <a:t>Slow Path (EWMA Filter)</a:t>
            </a:r>
          </a:p>
          <a:p>
            <a:pPr>
              <a:defRPr sz="950">
                <a:solidFill>
                  <a:srgbClr val="94A3B8"/>
                </a:solidFill>
              </a:defRPr>
            </a:pPr>
            <a:r>
              <a:t>α=0.3 smoothing rejects electrical noise and feeds delta threshold gate.</a:t>
            </a:r>
          </a:p>
          <a:p>
            <a:pPr>
              <a:defRPr sz="1050" b="1">
                <a:solidFill>
                  <a:srgbClr val="F8FAFC"/>
                </a:solidFill>
              </a:defRPr>
            </a:pPr>
            <a:r>
              <a:t>Fast Path (Rate-of-Change)</a:t>
            </a:r>
          </a:p>
          <a:p>
            <a:pPr>
              <a:defRPr sz="950">
                <a:solidFill>
                  <a:srgbClr val="94A3B8"/>
                </a:solidFill>
              </a:defRPr>
            </a:pPr>
            <a:r>
              <a:t>Uncoupled rate trigger catches rapid flashover spikes; 2-sample debounce rejects ADC glitches.</a:t>
            </a:r>
          </a:p>
          <a:p>
            <a:pPr>
              <a:defRPr sz="1050" b="1">
                <a:solidFill>
                  <a:srgbClr val="F8FAFC"/>
                </a:solidFill>
              </a:defRPr>
            </a:pPr>
            <a:r>
              <a:t>Hold-Down Hysteresis</a:t>
            </a:r>
          </a:p>
          <a:p>
            <a:pPr>
              <a:defRPr sz="950">
                <a:solidFill>
                  <a:srgbClr val="94A3B8"/>
                </a:solidFill>
              </a:defRPr>
            </a:pPr>
            <a:r>
              <a:t>1500–2000ms stability timer prevents LED route flipping.</a:t>
            </a:r>
          </a:p>
        </p:txBody>
      </p:sp>
      <p:sp>
        <p:nvSpPr>
          <p:cNvPr id="9" name="Rounded Rectangle 8"/>
          <p:cNvSpPr/>
          <p:nvPr/>
        </p:nvSpPr>
        <p:spPr>
          <a:xfrm>
            <a:off x="6217920" y="2926080"/>
            <a:ext cx="5242255"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063240"/>
            <a:ext cx="4876495" cy="2926080"/>
          </a:xfrm>
          <a:prstGeom prst="rect">
            <a:avLst/>
          </a:prstGeom>
          <a:noFill/>
        </p:spPr>
        <p:txBody>
          <a:bodyPr wrap="square">
            <a:spAutoFit/>
          </a:bodyPr>
          <a:lstStyle/>
          <a:p>
            <a:pPr>
              <a:defRPr sz="1100" b="1">
                <a:solidFill>
                  <a:srgbClr val="FBBF24"/>
                </a:solidFill>
              </a:defRPr>
            </a:pPr>
            <a:r>
              <a:t>DYNAMIC LED COLOR DECISION MATRIX</a:t>
            </a:r>
          </a:p>
          <a:p>
            <a:pPr>
              <a:defRPr sz="1050" b="1">
                <a:solidFill>
                  <a:srgbClr val="34D399"/>
                </a:solidFill>
              </a:defRPr>
            </a:pPr>
            <a:r>
              <a:t>🟢 GREEN (Safe Path)</a:t>
            </a:r>
          </a:p>
          <a:p>
            <a:pPr>
              <a:defRPr sz="900">
                <a:solidFill>
                  <a:srgbClr val="94A3B8"/>
                </a:solidFill>
              </a:defRPr>
            </a:pPr>
            <a:r>
              <a:t>Shortest low-hazard egress path. Chasing lights point to exit.</a:t>
            </a:r>
          </a:p>
          <a:p>
            <a:pPr>
              <a:defRPr sz="1050" b="1">
                <a:solidFill>
                  <a:srgbClr val="FBBF24"/>
                </a:solidFill>
              </a:defRPr>
            </a:pPr>
            <a:r>
              <a:t>🟡 YELLOW (Smoke Reroute)</a:t>
            </a:r>
          </a:p>
          <a:p>
            <a:pPr>
              <a:defRPr sz="900">
                <a:solidFill>
                  <a:srgbClr val="94A3B8"/>
                </a:solidFill>
              </a:defRPr>
            </a:pPr>
            <a:r>
              <a:t>Smoke-dominant alternate path (S_norm &gt; T_norm).</a:t>
            </a:r>
          </a:p>
          <a:p>
            <a:pPr>
              <a:defRPr sz="1050" b="1">
                <a:solidFill>
                  <a:srgbClr val="F87171"/>
                </a:solidFill>
              </a:defRPr>
            </a:pPr>
            <a:r>
              <a:t>🔴 PULSING RED (Danger)</a:t>
            </a:r>
          </a:p>
          <a:p>
            <a:pPr>
              <a:defRPr sz="900">
                <a:solidFill>
                  <a:srgbClr val="94A3B8"/>
                </a:solidFill>
              </a:defRPr>
            </a:pPr>
            <a:r>
              <a:t>Active flame detection OR heat-dominant hazard.</a:t>
            </a:r>
          </a:p>
          <a:p>
            <a:pPr>
              <a:defRPr sz="1050" b="1">
                <a:solidFill>
                  <a:srgbClr val="F8FAFC"/>
                </a:solidFill>
              </a:defRPr>
            </a:pPr>
            <a:r>
              <a:t>⚪ WHITE STROBE (Shelter)</a:t>
            </a:r>
          </a:p>
          <a:p>
            <a:pPr>
              <a:defRPr sz="900">
                <a:solidFill>
                  <a:srgbClr val="94A3B8"/>
                </a:solidFill>
              </a:defRPr>
            </a:pPr>
            <a:r>
              <a:t>All exit costs ≥ 100,000. Instructs occupants to seal 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4. DEMO WALKTHROUGH &amp; FAIL-SAFE HIERARCHY</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Live Demonstration Flow &amp; 3-Tier Fault Resilience</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Executive Pitch Deck (Compressed)  |  Slide 5 of 6</a:t>
            </a:r>
          </a:p>
        </p:txBody>
      </p:sp>
      <p:sp>
        <p:nvSpPr>
          <p:cNvPr id="5" name="Rounded Rectangle 4"/>
          <p:cNvSpPr/>
          <p:nvPr/>
        </p:nvSpPr>
        <p:spPr>
          <a:xfrm>
            <a:off x="731520" y="1280160"/>
            <a:ext cx="52578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892040" cy="4480560"/>
          </a:xfrm>
          <a:prstGeom prst="rect">
            <a:avLst/>
          </a:prstGeom>
          <a:noFill/>
        </p:spPr>
        <p:txBody>
          <a:bodyPr wrap="square">
            <a:spAutoFit/>
          </a:bodyPr>
          <a:lstStyle/>
          <a:p>
            <a:pPr>
              <a:defRPr sz="1100" b="1">
                <a:solidFill>
                  <a:srgbClr val="38BDF8"/>
                </a:solidFill>
              </a:defRPr>
            </a:pPr>
            <a:r>
              <a:t>LIVE HACKATHON DEMO FLOW</a:t>
            </a:r>
          </a:p>
          <a:p>
            <a:pPr>
              <a:defRPr sz="1050" b="1">
                <a:solidFill>
                  <a:srgbClr val="F8FAFC"/>
                </a:solidFill>
              </a:defRPr>
            </a:pPr>
            <a:r>
              <a:t>1. Baseline State</a:t>
            </a:r>
          </a:p>
          <a:p>
            <a:pPr>
              <a:defRPr sz="900">
                <a:solidFill>
                  <a:srgbClr val="94A3B8"/>
                </a:solidFill>
              </a:defRPr>
            </a:pPr>
            <a:r>
              <a:t>Green chasing lights active, telemetry streaming to 3D EOC twin.</a:t>
            </a:r>
          </a:p>
          <a:p>
            <a:pPr>
              <a:defRPr sz="1050" b="1">
                <a:solidFill>
                  <a:srgbClr val="F8FAFC"/>
                </a:solidFill>
              </a:defRPr>
            </a:pPr>
            <a:r>
              <a:t>2. Smolder Injection</a:t>
            </a:r>
          </a:p>
          <a:p>
            <a:pPr>
              <a:defRPr sz="900">
                <a:solidFill>
                  <a:srgbClr val="94A3B8"/>
                </a:solidFill>
              </a:defRPr>
            </a:pPr>
            <a:r>
              <a:t>Python injector streams slow smoldering fire into Zone 3.</a:t>
            </a:r>
          </a:p>
          <a:p>
            <a:pPr>
              <a:defRPr sz="1050" b="1">
                <a:solidFill>
                  <a:srgbClr val="F8FAFC"/>
                </a:solidFill>
              </a:defRPr>
            </a:pPr>
            <a:r>
              <a:t>3. Judge Flashover</a:t>
            </a:r>
          </a:p>
          <a:p>
            <a:pPr>
              <a:defRPr sz="900">
                <a:solidFill>
                  <a:srgbClr val="94A3B8"/>
                </a:solidFill>
              </a:defRPr>
            </a:pPr>
            <a:r>
              <a:t>Judges trigger flashover in Zone 2 -&gt; sub-300ms reroute to Red/Yellow.</a:t>
            </a:r>
          </a:p>
          <a:p>
            <a:pPr>
              <a:defRPr sz="1050" b="1">
                <a:solidFill>
                  <a:srgbClr val="F8FAFC"/>
                </a:solidFill>
              </a:defRPr>
            </a:pPr>
            <a:r>
              <a:t>4. Corrupt Packet Test</a:t>
            </a:r>
          </a:p>
          <a:p>
            <a:pPr>
              <a:defRPr sz="900">
                <a:solidFill>
                  <a:srgbClr val="94A3B8"/>
                </a:solidFill>
              </a:defRPr>
            </a:pPr>
            <a:r>
              <a:t>Injector sends malformed payload -&gt; node rejects via CRC16 live.</a:t>
            </a:r>
          </a:p>
          <a:p>
            <a:pPr>
              <a:defRPr sz="1050" b="1">
                <a:solidFill>
                  <a:srgbClr val="F8FAFC"/>
                </a:solidFill>
              </a:defRPr>
            </a:pPr>
            <a:r>
              <a:t>5. Sensor Fault &amp; Shelter</a:t>
            </a:r>
          </a:p>
          <a:p>
            <a:pPr>
              <a:defRPr sz="900">
                <a:solidFill>
                  <a:srgbClr val="94A3B8"/>
                </a:solidFill>
              </a:defRPr>
            </a:pPr>
            <a:r>
              <a:t>Disconnect wire -&gt; Tier 2 Consensus; block exits -&gt; White Strobe Shelter.</a:t>
            </a:r>
          </a:p>
        </p:txBody>
      </p:sp>
      <p:sp>
        <p:nvSpPr>
          <p:cNvPr id="7" name="Rounded Rectangle 6"/>
          <p:cNvSpPr/>
          <p:nvPr/>
        </p:nvSpPr>
        <p:spPr>
          <a:xfrm>
            <a:off x="6217920" y="1280160"/>
            <a:ext cx="524225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876495" cy="4480560"/>
          </a:xfrm>
          <a:prstGeom prst="rect">
            <a:avLst/>
          </a:prstGeom>
          <a:noFill/>
        </p:spPr>
        <p:txBody>
          <a:bodyPr wrap="square">
            <a:spAutoFit/>
          </a:bodyPr>
          <a:lstStyle/>
          <a:p>
            <a:pPr>
              <a:defRPr sz="1100" b="1">
                <a:solidFill>
                  <a:srgbClr val="FBBF24"/>
                </a:solidFill>
              </a:defRPr>
            </a:pPr>
            <a:r>
              <a:t>3-TIER SENSOR FAIL-SAFE HIERARCHY</a:t>
            </a:r>
          </a:p>
          <a:p>
            <a:pPr>
              <a:defRPr sz="1100" b="1">
                <a:solidFill>
                  <a:srgbClr val="F8FAFC"/>
                </a:solidFill>
              </a:defRPr>
            </a:pPr>
            <a:r>
              <a:t>Tier 1: Local Reading</a:t>
            </a:r>
          </a:p>
          <a:p>
            <a:pPr>
              <a:defRPr sz="950">
                <a:solidFill>
                  <a:srgbClr val="94A3B8"/>
                </a:solidFill>
              </a:defRPr>
            </a:pPr>
            <a:r>
              <a:t>Local sensor healthy (variance check passes) -&gt; Node trusts its own physical reading.</a:t>
            </a:r>
          </a:p>
          <a:p>
            <a:pPr>
              <a:defRPr sz="1100" b="1">
                <a:solidFill>
                  <a:srgbClr val="F8FAFC"/>
                </a:solidFill>
              </a:defRPr>
            </a:pPr>
            <a:r>
              <a:t>Tier 2: Neighbor Consensus</a:t>
            </a:r>
          </a:p>
          <a:p>
            <a:pPr>
              <a:defRPr sz="950">
                <a:solidFill>
                  <a:srgbClr val="94A3B8"/>
                </a:solidFill>
              </a:defRPr>
            </a:pPr>
            <a:r>
              <a:t>Local sensor fails (flat 30s variance/NaN) -&gt; Node defers to neighbor consensus estimate.</a:t>
            </a:r>
          </a:p>
          <a:p>
            <a:pPr>
              <a:defRPr sz="1100" b="1">
                <a:solidFill>
                  <a:srgbClr val="F8FAFC"/>
                </a:solidFill>
              </a:defRPr>
            </a:pPr>
            <a:r>
              <a:t>Tier 3: Static Default Path</a:t>
            </a:r>
          </a:p>
          <a:p>
            <a:pPr>
              <a:defRPr sz="950">
                <a:solidFill>
                  <a:srgbClr val="94A3B8"/>
                </a:solidFill>
              </a:defRPr>
            </a:pPr>
            <a:r>
              <a:t>Isolated node with failed sensor &amp; broken mesh -&gt; Node falls back to pre-flashed static default path.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lIns="0" tIns="0" rIns="0" bIns="0">
            <a:spAutoFit/>
          </a:bodyPr>
          <a:lstStyle/>
          <a:p>
            <a:pPr>
              <a:defRPr sz="1000" b="1">
                <a:solidFill>
                  <a:srgbClr val="38BDF8"/>
                </a:solidFill>
                <a:latin typeface="Arial"/>
              </a:defRPr>
            </a:pPr>
            <a:r>
              <a:t>5. EVALUATION, BENCHMARKS &amp; CLOSING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200" b="1">
                <a:solidFill>
                  <a:srgbClr val="F8FAFC"/>
                </a:solidFill>
                <a:latin typeface="Arial"/>
              </a:defRPr>
            </a:pPr>
            <a:r>
              <a:t>Official Scorecard (96.1% Gold), Test Results &amp; Takeaways</a:t>
            </a:r>
          </a:p>
        </p:txBody>
      </p:sp>
      <p:sp>
        <p:nvSpPr>
          <p:cNvPr id="4" name="TextBox 3"/>
          <p:cNvSpPr txBox="1"/>
          <p:nvPr/>
        </p:nvSpPr>
        <p:spPr>
          <a:xfrm>
            <a:off x="731520" y="6400800"/>
            <a:ext cx="10728655" cy="274320"/>
          </a:xfrm>
          <a:prstGeom prst="rect">
            <a:avLst/>
          </a:prstGeom>
          <a:noFill/>
        </p:spPr>
        <p:txBody>
          <a:bodyPr wrap="none" lIns="0" tIns="0" rIns="0" bIns="0">
            <a:spAutoFit/>
          </a:bodyPr>
          <a:lstStyle/>
          <a:p>
            <a:pPr>
              <a:defRPr sz="900">
                <a:solidFill>
                  <a:srgbClr val="94A3B8"/>
                </a:solidFill>
                <a:latin typeface="Arial"/>
              </a:defRPr>
            </a:pPr>
            <a:r>
              <a:t>SafeRoute AI  |  Executive Pitch Deck (Compressed)  |  Slide 6 of 6</a:t>
            </a:r>
          </a:p>
        </p:txBody>
      </p:sp>
      <p:sp>
        <p:nvSpPr>
          <p:cNvPr id="5" name="Rounded Rectangle 4"/>
          <p:cNvSpPr/>
          <p:nvPr/>
        </p:nvSpPr>
        <p:spPr>
          <a:xfrm>
            <a:off x="731520" y="1280160"/>
            <a:ext cx="594360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5577840" cy="4480560"/>
          </a:xfrm>
          <a:prstGeom prst="rect">
            <a:avLst/>
          </a:prstGeom>
          <a:noFill/>
        </p:spPr>
        <p:txBody>
          <a:bodyPr wrap="square">
            <a:spAutoFit/>
          </a:bodyPr>
          <a:lstStyle/>
          <a:p>
            <a:pPr>
              <a:defRPr sz="1100" b="1">
                <a:solidFill>
                  <a:srgbClr val="38BDF8"/>
                </a:solidFill>
              </a:defRPr>
            </a:pPr>
            <a:r>
              <a:t>OFFICIAL EVALUATION SCORECARD</a:t>
            </a:r>
          </a:p>
          <a:p>
            <a:pPr>
              <a:defRPr sz="950" b="1">
                <a:solidFill>
                  <a:srgbClr val="F8FAFC"/>
                </a:solidFill>
                <a:latin typeface="Courier New"/>
              </a:defRPr>
            </a:pPr>
            <a:r>
              <a:t>Category                       Wt       Score</a:t>
            </a:r>
          </a:p>
          <a:p>
            <a:pPr>
              <a:defRPr sz="950" b="0">
                <a:solidFill>
                  <a:srgbClr val="F8FAFC"/>
                </a:solidFill>
                <a:latin typeface="Courier New"/>
              </a:defRPr>
            </a:pPr>
            <a:r>
              <a:t>1. Algorithm &amp; Fusion          30%      98/100</a:t>
            </a:r>
          </a:p>
          <a:p>
            <a:pPr>
              <a:defRPr sz="950" b="0">
                <a:solidFill>
                  <a:srgbClr val="F8FAFC"/>
                </a:solidFill>
                <a:latin typeface="Courier New"/>
              </a:defRPr>
            </a:pPr>
            <a:r>
              <a:t>2. Simulation Quality          20%      96/100</a:t>
            </a:r>
          </a:p>
          <a:p>
            <a:pPr>
              <a:defRPr sz="950" b="0">
                <a:solidFill>
                  <a:srgbClr val="F8FAFC"/>
                </a:solidFill>
                <a:latin typeface="Courier New"/>
              </a:defRPr>
            </a:pPr>
            <a:r>
              <a:t>3. Visual Interface Clarity    15%      95/100</a:t>
            </a:r>
          </a:p>
          <a:p>
            <a:pPr>
              <a:defRPr sz="950" b="0">
                <a:solidFill>
                  <a:srgbClr val="F8FAFC"/>
                </a:solidFill>
                <a:latin typeface="Courier New"/>
              </a:defRPr>
            </a:pPr>
            <a:r>
              <a:t>4. Pitch &amp; Architecture        15%      95/100</a:t>
            </a:r>
          </a:p>
          <a:p>
            <a:pPr>
              <a:defRPr sz="950" b="0">
                <a:solidFill>
                  <a:srgbClr val="F8FAFC"/>
                </a:solidFill>
                <a:latin typeface="Courier New"/>
              </a:defRPr>
            </a:pPr>
            <a:r>
              <a:t>5. Mesh Communication          10%      94/100</a:t>
            </a:r>
          </a:p>
          <a:p>
            <a:pPr>
              <a:defRPr sz="950" b="0">
                <a:solidFill>
                  <a:srgbClr val="F8FAFC"/>
                </a:solidFill>
                <a:latin typeface="Courier New"/>
              </a:defRPr>
            </a:pPr>
            <a:r>
              <a:t>6. Fail-Safe Operation         10%      97/100</a:t>
            </a:r>
          </a:p>
          <a:p>
            <a:pPr>
              <a:defRPr sz="950" b="1">
                <a:solidFill>
                  <a:srgbClr val="34D399"/>
                </a:solidFill>
                <a:latin typeface="Courier New"/>
              </a:defRPr>
            </a:pPr>
            <a:r>
              <a:t>OVERALL SCORE                  100%     96.1% (GOLD)</a:t>
            </a:r>
          </a:p>
        </p:txBody>
      </p:sp>
      <p:sp>
        <p:nvSpPr>
          <p:cNvPr id="7" name="Rounded Rectangle 6"/>
          <p:cNvSpPr/>
          <p:nvPr/>
        </p:nvSpPr>
        <p:spPr>
          <a:xfrm>
            <a:off x="6858000" y="1280160"/>
            <a:ext cx="4602175"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463040"/>
            <a:ext cx="4236415" cy="4480560"/>
          </a:xfrm>
          <a:prstGeom prst="rect">
            <a:avLst/>
          </a:prstGeom>
          <a:noFill/>
        </p:spPr>
        <p:txBody>
          <a:bodyPr wrap="square">
            <a:spAutoFit/>
          </a:bodyPr>
          <a:lstStyle/>
          <a:p>
            <a:pPr>
              <a:defRPr sz="1100" b="1">
                <a:solidFill>
                  <a:srgbClr val="34D399"/>
                </a:solidFill>
              </a:defRPr>
            </a:pPr>
            <a:r>
              <a:t>EMPIRICAL BENCHMARKS &amp; TAKEAWAY</a:t>
            </a:r>
          </a:p>
          <a:p>
            <a:pPr>
              <a:defRPr sz="1100" b="1">
                <a:solidFill>
                  <a:srgbClr val="F8FAFC"/>
                </a:solidFill>
              </a:defRPr>
            </a:pPr>
            <a:r>
              <a:t>118 ms Latency</a:t>
            </a:r>
          </a:p>
          <a:p>
            <a:pPr>
              <a:defRPr sz="900">
                <a:solidFill>
                  <a:srgbClr val="94A3B8"/>
                </a:solidFill>
              </a:defRPr>
            </a:pPr>
            <a:r>
              <a:t>Measured p95 reaction time across 4-hop mesh (Target &lt;300ms).</a:t>
            </a:r>
          </a:p>
          <a:p>
            <a:pPr>
              <a:defRPr sz="1100" b="1">
                <a:solidFill>
                  <a:srgbClr val="F8FAFC"/>
                </a:solidFill>
              </a:defRPr>
            </a:pPr>
            <a:r>
              <a:t>100% CRC Catch</a:t>
            </a:r>
          </a:p>
          <a:p>
            <a:pPr>
              <a:defRPr sz="900">
                <a:solidFill>
                  <a:srgbClr val="94A3B8"/>
                </a:solidFill>
              </a:defRPr>
            </a:pPr>
            <a:r>
              <a:t>10,000 corrupted packets injected -&gt; zero accepted into Dijkstra.</a:t>
            </a:r>
          </a:p>
          <a:p>
            <a:pPr>
              <a:defRPr sz="1100" b="1">
                <a:solidFill>
                  <a:srgbClr val="F8FAFC"/>
                </a:solidFill>
              </a:defRPr>
            </a:pPr>
            <a:r>
              <a:t>$16 - $24 BOM Cost</a:t>
            </a:r>
          </a:p>
          <a:p>
            <a:pPr>
              <a:defRPr sz="900">
                <a:solidFill>
                  <a:srgbClr val="94A3B8"/>
                </a:solidFill>
              </a:defRPr>
            </a:pPr>
            <a:r>
              <a:t>Ultra low-cost ESP32 hardware node bill of materials.</a:t>
            </a:r>
          </a:p>
          <a:p>
            <a:pPr>
              <a:defRPr sz="1100" b="1">
                <a:solidFill>
                  <a:srgbClr val="F8FAFC"/>
                </a:solidFill>
              </a:defRPr>
            </a:pPr>
            <a:r>
              <a:t>Key Takeaway</a:t>
            </a:r>
          </a:p>
          <a:p>
            <a:pPr>
              <a:defRPr sz="900">
                <a:solidFill>
                  <a:srgbClr val="94A3B8"/>
                </a:solidFill>
              </a:defRPr>
            </a:pPr>
            <a:r>
              <a:t>SafeRoute AI transforms building safety by replacing static signs with dynamic real-time edge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