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8" r:id="rId3"/>
    <p:sldId id="281" r:id="rId4"/>
    <p:sldId id="290" r:id="rId5"/>
    <p:sldId id="293" r:id="rId6"/>
    <p:sldId id="299" r:id="rId7"/>
    <p:sldId id="296"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1" d="100"/>
          <a:sy n="101" d="100"/>
        </p:scale>
        <p:origin x="876" y="108"/>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7/24/2026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SCRIPT / WHAT TO SAY ===</a:t>
            </a:r>
          </a:p>
          <a:p>
            <a:r>
              <a:t>Good day judges. We present SafeRoute AI for Problem Statement ID SIH-2026-SR01: Dynamic Fire Evacuation Router with Real-Time Hazard Mapping. SafeRoute AI replaces passive exit signs with decentralized ESP32 edge micro-routers that compute safest exit paths in under 300 milliseconds without central server dependency.</a:t>
            </a:r>
          </a:p>
          <a:p/>
          <a:p>
            <a:r>
              <a:t>=== KEY TECHNICAL POINTS ===</a:t>
            </a:r>
          </a:p>
          <a:p>
            <a:r>
              <a:t>• Official SIH Title Page format satisfying all metadata fields.</a:t>
            </a:r>
          </a:p>
          <a:p>
            <a:r>
              <a:t>• Highlight Problem Statement ID, Category, and core engineering pillars.</a:t>
            </a:r>
          </a:p>
          <a:p/>
          <a:p>
            <a:r>
              <a:t>=== SLIDE TRANSITION ===</a:t>
            </a:r>
          </a:p>
          <a:p>
            <a:r>
              <a:t>Let's detail our proposed solution, prototype, and key innovations.</a:t>
            </a:r>
          </a:p>
          <a:p/>
          <a:p>
            <a:r>
              <a:t>=== EXPECTED JURY Q&amp;A ===</a:t>
            </a:r>
          </a:p>
          <a:p>
            <a:r>
              <a:t>Q: Is this a software or hardware submission?</a:t>
            </a:r>
          </a:p>
          <a:p>
            <a:r>
              <a:t>A: It is a combined Hardware &amp; Software implementation: ESP32 micro-routers with WS2812B LEDs, paired with a Python simulator and 3D WebGL EOC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 SCRIPT / WHAT TO SAY ===</a:t>
            </a:r>
          </a:p>
          <a:p>
            <a:r>
              <a:t>Slide 2 presents our proposed solution. SafeRoute AI replaces passive exit signs with decentralized link-state micro-routers. Each node senses multi-vector fire data and recomputes paths in under 300 milliseconds. Our innovation lies in our continuous exponential math formula, lock-free FreeRTOS double-buffering, and 3-tier fail-safe hierarchy.</a:t>
            </a:r>
          </a:p>
          <a:p/>
          <a:p>
            <a:r>
              <a:t>=== KEY TECHNICAL POINTS ===</a:t>
            </a:r>
          </a:p>
          <a:p>
            <a:r>
              <a:t>• Strictly addresses SIH Slide 2 pointers: Proposed Solution, Problem Solved, Innovation &amp; Uniqueness.</a:t>
            </a:r>
          </a:p>
          <a:p>
            <a:r>
              <a:t>• Highlight sub-300ms latency, continuous exponential cost formula, and lock-free execution.</a:t>
            </a:r>
          </a:p>
          <a:p/>
          <a:p>
            <a:r>
              <a:t>=== SLIDE TRANSITION ===</a:t>
            </a:r>
          </a:p>
          <a:p>
            <a:r>
              <a:t>Let's now examine our technical approach, technologies used, and system flow.</a:t>
            </a:r>
          </a:p>
          <a:p/>
          <a:p>
            <a:r>
              <a:t>=== EXPECTED JURY Q&amp;A ===</a:t>
            </a:r>
          </a:p>
          <a:p>
            <a:r>
              <a:t>Q: What makes your algorithm unique compared to standard A*?</a:t>
            </a:r>
          </a:p>
          <a:p>
            <a:r>
              <a:t>A: Standard A* uses static heuristic distances. SafeRoute AI computes dynamic physical hazard weights continuously, combining thermal, particulate, and congestion vectors.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3</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 SCRIPT / WHAT TO SAY ===</a:t>
            </a:r>
          </a:p>
          <a:p>
            <a:r>
              <a:t>Slide 3 outlines our technical approach. Our hardware stack uses dual-core ESP32 microcontrollers reading multi-vector sensors. Firmware is written in C++17 on PlatformIO/FreeRTOS, isolating ESP-NOW mesh reception to Core 1 and Dijkstra routing to Core 0. The physical cost math combines temperature, smoke, occupancy, and flame into an exponential edge weight calibrated via NIST fire datasets. FastLED states dictate visual evacuation guidance.</a:t>
            </a:r>
          </a:p>
          <a:p/>
          <a:p>
            <a:r>
              <a:t>=== KEY TECHNICAL POINTS ===</a:t>
            </a:r>
          </a:p>
          <a:p>
            <a:r>
              <a:t>• Strictly satisfies SIH Slide 3 pointers: Technologies Used &amp; Implementation Methodology.</a:t>
            </a:r>
          </a:p>
          <a:p>
            <a:r>
              <a:t>• Detail FreeRTOS core split, ESP-NOW 24B wire packet, continuous cost math, and FastLED state matrix.</a:t>
            </a:r>
          </a:p>
          <a:p/>
          <a:p>
            <a:r>
              <a:t>=== SLIDE TRANSITION ===</a:t>
            </a:r>
          </a:p>
          <a:p>
            <a:r>
              <a:t>Let's evaluate the feasibility, risks, and mitigation strategies of our project.</a:t>
            </a:r>
          </a:p>
          <a:p/>
          <a:p>
            <a:r>
              <a:t>=== EXPECTED JURY Q&amp;A ===</a:t>
            </a:r>
          </a:p>
          <a:p>
            <a:r>
              <a:t>Q: How do you prevent LED path flickering?</a:t>
            </a:r>
          </a:p>
          <a:p>
            <a:r>
              <a:t>A: We implement a 1500–2000ms hold-down hysteresis timer that prevents non-essential route switching unless flame is detected.</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4</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 SCRIPT / WHAT TO SAY ===</a:t>
            </a:r>
          </a:p>
          <a:p>
            <a:r>
              <a:t>Slide 4 covers Feasibility and Viability. SafeRoute AI is highly feasible with a hardware cost of $16 to $24 per node, retrofitting easily alongside static exit signs. We identified three primary risks: sensor hardware failure, packet corruption, and total exit blockage. We mitigated all three: first, a 3-tier fail-safe hierarchy; second, CRC16 checksums and sequence numbers; and third, an automatic Shelter-In-Place state when all exits are blocked.</a:t>
            </a:r>
          </a:p>
          <a:p/>
          <a:p>
            <a:r>
              <a:t>=== KEY TECHNICAL POINTS ===</a:t>
            </a:r>
          </a:p>
          <a:p>
            <a:r>
              <a:t>• Strictly satisfies SIH Slide 4 pointers: Feasibility Analysis, Challenges &amp; Risks, Mitigation Strategies.</a:t>
            </a:r>
          </a:p>
          <a:p>
            <a:r>
              <a:t>• Detail 3-tier fail-safe, CRC16 validation, and Shelter-In-Place trigger.</a:t>
            </a:r>
          </a:p>
          <a:p/>
          <a:p>
            <a:r>
              <a:t>=== SLIDE TRANSITION ===</a:t>
            </a:r>
          </a:p>
          <a:p>
            <a:r>
              <a:t>Let's inspect our project artifacts, code structure, and live dashboard interfaces.</a:t>
            </a:r>
          </a:p>
          <a:p/>
          <a:p>
            <a:r>
              <a:t>=== EXPECTED JURY Q&amp;A ===</a:t>
            </a:r>
          </a:p>
          <a:p>
            <a:r>
              <a:t>Q: What happens if a node's local sensor dies completely?</a:t>
            </a:r>
          </a:p>
          <a:p>
            <a:r>
              <a:t>A: The node detects zero sample variance over 30s, flags itself unhealthy, and transitions to Tier 2 (Neighbor Consensus) to compute physical hazard costs.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9F277-D966-5891-8E8E-FE1852E6B425}"/>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63166A99-EAE2-2E28-993F-D5871297B24D}"/>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4ED88F3D-7791-59C8-716F-0AAD4C669A9A}"/>
              </a:ext>
            </a:extLst>
          </p:cNvPr>
          <p:cNvSpPr>
            <a:spLocks noGrp="1"/>
          </p:cNvSpPr>
          <p:nvPr>
            <p:ph type="body" idx="1"/>
          </p:nvPr>
        </p:nvSpPr>
        <p:spPr bwMode="auto">
          <a:noFill/>
        </p:spPr>
        <p:txBody>
          <a:bodyPr wrap="square" numCol="1" anchor="t" anchorCtr="0" compatLnSpc="1">
            <a:prstTxWarp prst="textNoShape">
              <a:avLst/>
            </a:prstTxWarp>
          </a:bodyPr>
          <a:lstStyle/>
          <a:p>
            <a:r>
              <a:t>=== SCRIPT / WHAT TO SAY ===</a:t>
            </a:r>
          </a:p>
          <a:p>
            <a:r>
              <a:t>Slide 5 displays our working project artifacts: modular C++ firmware, Python fire simulator supporting judge flashover triggers and CRC corruption tests, 3D WebGL EOC digital twin, and physical testbench benchmarks proving a 118ms p95 latency across 4 hops.</a:t>
            </a:r>
          </a:p>
          <a:p/>
          <a:p>
            <a:r>
              <a:t>=== KEY TECHNICAL POINTS ===</a:t>
            </a:r>
          </a:p>
          <a:p>
            <a:r>
              <a:t>• Strictly satisfies SIH Slide 5 pointers: Embedded Code, Solution Snaps, Dashboard Snaps, Simulator.</a:t>
            </a:r>
          </a:p>
          <a:p>
            <a:r>
              <a:t>• Highlight physical testbench, Python injector, and Three.js 3D Digital Twin.</a:t>
            </a:r>
          </a:p>
          <a:p/>
          <a:p>
            <a:r>
              <a:t>=== SLIDE TRANSITION ===</a:t>
            </a:r>
          </a:p>
          <a:p>
            <a:r>
              <a:t>Let's conclude with our research references and dataset calibrations.</a:t>
            </a:r>
          </a:p>
          <a:p/>
          <a:p>
            <a:r>
              <a:t>=== EXPECTED JURY Q&amp;A ===</a:t>
            </a:r>
          </a:p>
          <a:p>
            <a:r>
              <a:t>Q: Is the code open source and available for review?</a:t>
            </a:r>
          </a:p>
          <a:p>
            <a:r>
              <a:t>A: Yes, the full repository includes firmware source code, Python digital twin injector, Node-RED flows, tests, and Docker deployment scripts.</a:t>
            </a:r>
          </a:p>
        </p:txBody>
      </p:sp>
      <p:sp>
        <p:nvSpPr>
          <p:cNvPr id="18435" name="Slide Number Placeholder 3">
            <a:extLst>
              <a:ext uri="{FF2B5EF4-FFF2-40B4-BE49-F238E27FC236}">
                <a16:creationId xmlns:a16="http://schemas.microsoft.com/office/drawing/2014/main" id="{CC82298B-112C-33CB-5F98-D6F1C4A4C6DE}"/>
              </a:ext>
            </a:extLst>
          </p:cNvPr>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4173051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 SCRIPT / WHAT TO SAY ===</a:t>
            </a:r>
          </a:p>
          <a:p>
            <a:r>
              <a:t>Slide 6 presents our research foundation and references. Our cost function constants α=2.2 and β=1.6 were fitted using offline non-linear regressions on NIST fire dynamics data and Kaggle smoke datasets. SafeRoute AI is designed to augment static signage under NFPA 101 standards, applying classical OSPF link-state graph routing principles to physical fire evacuation. Thank you, and we are open for jury questions.</a:t>
            </a:r>
          </a:p>
          <a:p/>
          <a:p>
            <a:r>
              <a:t>=== KEY TECHNICAL POINTS ===</a:t>
            </a:r>
          </a:p>
          <a:p>
            <a:r>
              <a:t>• Strictly satisfies SIH Slide 6 pointers: Reference Links &amp; Research Work Details.</a:t>
            </a:r>
          </a:p>
          <a:p>
            <a:r>
              <a:t>• Highlight NIST fire data, Kaggle smoke time-series, NFPA 101 regulatory framing, and OSPF graph theory.</a:t>
            </a:r>
          </a:p>
          <a:p/>
          <a:p>
            <a:r>
              <a:t>=== SLIDE TRANSITION ===</a:t>
            </a:r>
          </a:p>
          <a:p>
            <a:r>
              <a:t>End of presentation. Open floor for jury Q&amp;A.</a:t>
            </a:r>
          </a:p>
          <a:p/>
          <a:p>
            <a:r>
              <a:t>=== EXPECTED JURY Q&amp;A ===</a:t>
            </a:r>
          </a:p>
          <a:p>
            <a:r>
              <a:t>Q: How do you justify fitting hyperparameters offline instead of running ML on-device?</a:t>
            </a:r>
          </a:p>
          <a:p>
            <a:r>
              <a:t>A: Safety-critical emergency routing requires deterministic execution. Offline regression calibrates accurate continuous physics curves while ensuring on-device Dijkstra runs in bounded sub-300ms time.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7/24/2026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7/24/2026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7/24/2026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7/24/2026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7/24/2026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7/24/2026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7/24/2026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7/24/2026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7/24/2026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7/24/2026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7/24/2026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7/24/2026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2A033A5-F70E-7E73-0B8C-FA62C08DEB56}"/>
              </a:ext>
            </a:extLst>
          </p:cNvPr>
          <p:cNvSpPr>
            <a:spLocks noGrp="1"/>
          </p:cNvSpPr>
          <p:nvPr>
            <p:ph type="ftr" sz="quarter" idx="11"/>
          </p:nvPr>
        </p:nvSpPr>
        <p:spPr/>
        <p:txBody>
          <a:bodyPr/>
          <a:lstStyle/>
          <a:p>
            <a:pPr>
              <a:defRPr/>
            </a:pPr>
            <a:r>
              <a:rPr lang="en-US"/>
              <a:t>@SIH Idea submission- Template</a:t>
            </a:r>
          </a:p>
        </p:txBody>
      </p:sp>
      <p:sp>
        <p:nvSpPr>
          <p:cNvPr id="5" name="Slide Number Placeholder 4">
            <a:extLst>
              <a:ext uri="{FF2B5EF4-FFF2-40B4-BE49-F238E27FC236}">
                <a16:creationId xmlns:a16="http://schemas.microsoft.com/office/drawing/2014/main" id="{EC99EC04-BCF1-5A69-7D5A-95D43C9763A1}"/>
              </a:ext>
            </a:extLst>
          </p:cNvPr>
          <p:cNvSpPr>
            <a:spLocks noGrp="1"/>
          </p:cNvSpPr>
          <p:nvPr>
            <p:ph type="sldNum" sz="quarter" idx="12"/>
          </p:nvPr>
        </p:nvSpPr>
        <p:spPr/>
        <p:txBody>
          <a:bodyPr/>
          <a:lstStyle/>
          <a:p>
            <a:fld id="{677C3CE7-23F7-4828-823C-E0205DF2CF97}" type="slidenum">
              <a:rPr lang="en-US" smtClean="0"/>
              <a:pPr/>
              <a:t>2</a:t>
            </a:fld>
            <a:endParaRPr lang="en-US"/>
          </a:p>
        </p:txBody>
      </p:sp>
      <p:sp>
        <p:nvSpPr>
          <p:cNvPr id="6" name="TextBox 5"/>
          <p:cNvSpPr txBox="1"/>
          <p:nvPr/>
        </p:nvSpPr>
        <p:spPr>
          <a:xfrm>
            <a:off x="731520" y="365760"/>
            <a:ext cx="10728655" cy="548640"/>
          </a:xfrm>
          <a:prstGeom prst="rect">
            <a:avLst/>
          </a:prstGeom>
          <a:noFill/>
        </p:spPr>
        <p:txBody>
          <a:bodyPr wrap="square" lIns="0" tIns="0" rIns="0" bIns="0">
            <a:spAutoFit/>
          </a:bodyPr>
          <a:lstStyle/>
          <a:p>
            <a:pPr>
              <a:defRPr sz="2000" b="1">
                <a:solidFill>
                  <a:srgbClr val="F8FAFC"/>
                </a:solidFill>
                <a:latin typeface="Arial"/>
              </a:defRPr>
            </a:pPr>
            <a:r>
              <a:t>TITLE PAGE</a:t>
            </a:r>
          </a:p>
        </p:txBody>
      </p:sp>
      <p:sp>
        <p:nvSpPr>
          <p:cNvPr id="7" name="Rounded Rectangle 6"/>
          <p:cNvSpPr/>
          <p:nvPr/>
        </p:nvSpPr>
        <p:spPr>
          <a:xfrm>
            <a:off x="731520" y="1005840"/>
            <a:ext cx="10728655" cy="5120640"/>
          </a:xfrm>
          <a:prstGeom prst="roundRect">
            <a:avLst/>
          </a:prstGeom>
          <a:solidFill>
            <a:srgbClr val="0F172A"/>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005840"/>
            <a:ext cx="1072865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188720"/>
            <a:ext cx="10149840" cy="4754880"/>
          </a:xfrm>
          <a:prstGeom prst="rect">
            <a:avLst/>
          </a:prstGeom>
          <a:noFill/>
        </p:spPr>
        <p:txBody>
          <a:bodyPr wrap="square">
            <a:spAutoFit/>
          </a:bodyPr>
          <a:lstStyle/>
          <a:p>
            <a:pPr>
              <a:defRPr sz="2800" b="1">
                <a:solidFill>
                  <a:srgbClr val="F8FAFC"/>
                </a:solidFill>
              </a:defRPr>
            </a:pPr>
            <a:r>
              <a:t>SafeRoute AI — Dynamic Fire Evacuation Router</a:t>
            </a:r>
          </a:p>
          <a:p>
            <a:pPr>
              <a:defRPr sz="1500">
                <a:solidFill>
                  <a:srgbClr val="38BDF8"/>
                </a:solidFill>
              </a:defRPr>
            </a:pPr>
            <a:r>
              <a:t>Decentralized Edge Mesh with Real-Time Physical Hazard Mapping &amp; 3D Digital Twin</a:t>
            </a:r>
          </a:p>
          <a:p>
            <a:pPr>
              <a:defRPr sz="1100" b="1">
                <a:solidFill>
                  <a:srgbClr val="FBBF24"/>
                </a:solidFill>
              </a:defRPr>
            </a:pPr>
            <a:r>
              <a:t>Problem Statement ID: </a:t>
            </a:r>
            <a:r>
              <a:rPr sz="1100" b="0">
                <a:solidFill>
                  <a:srgbClr val="F8FAFC"/>
                </a:solidFill>
              </a:rPr>
              <a:t>SIH-2026-SR01 (Dynamic Fire Evacuation Router)</a:t>
            </a:r>
          </a:p>
          <a:p>
            <a:pPr>
              <a:defRPr sz="1100" b="1">
                <a:solidFill>
                  <a:srgbClr val="FBBF24"/>
                </a:solidFill>
              </a:defRPr>
            </a:pPr>
            <a:r>
              <a:t>Problem Statement Title: </a:t>
            </a:r>
            <a:r>
              <a:rPr sz="1100" b="0">
                <a:solidFill>
                  <a:srgbClr val="F8FAFC"/>
                </a:solidFill>
              </a:rPr>
              <a:t>Dynamic Fire Evacuation Router with Real-Time Hazard Mapping</a:t>
            </a:r>
          </a:p>
          <a:p>
            <a:pPr>
              <a:defRPr sz="1100" b="1">
                <a:solidFill>
                  <a:srgbClr val="FBBF24"/>
                </a:solidFill>
              </a:defRPr>
            </a:pPr>
            <a:r>
              <a:t>Theme: </a:t>
            </a:r>
            <a:r>
              <a:rPr sz="1100" b="0">
                <a:solidFill>
                  <a:srgbClr val="F8FAFC"/>
                </a:solidFill>
              </a:rPr>
              <a:t>Smart Life-Safety Infrastructure &amp; Edge AI Systems</a:t>
            </a:r>
          </a:p>
          <a:p>
            <a:pPr>
              <a:defRPr sz="1100" b="1">
                <a:solidFill>
                  <a:srgbClr val="FBBF24"/>
                </a:solidFill>
              </a:defRPr>
            </a:pPr>
            <a:r>
              <a:t>PS Category: </a:t>
            </a:r>
            <a:r>
              <a:rPr sz="1100" b="0">
                <a:solidFill>
                  <a:srgbClr val="F8FAFC"/>
                </a:solidFill>
              </a:rPr>
              <a:t>Hardware &amp; Embedded Software Integration</a:t>
            </a:r>
          </a:p>
          <a:p>
            <a:pPr>
              <a:defRPr sz="1100" b="1">
                <a:solidFill>
                  <a:srgbClr val="FBBF24"/>
                </a:solidFill>
              </a:defRPr>
            </a:pPr>
            <a:r>
              <a:t>Team Name / Leads: </a:t>
            </a:r>
            <a:r>
              <a:rPr sz="1100" b="0">
                <a:solidFill>
                  <a:srgbClr val="F8FAFC"/>
                </a:solidFill>
              </a:rPr>
              <a:t>SafeRoute AI Core Engineering Team</a:t>
            </a:r>
          </a:p>
          <a:p>
            <a:pPr>
              <a:defRPr sz="1100" b="1">
                <a:solidFill>
                  <a:srgbClr val="FBBF24"/>
                </a:solidFill>
              </a:defRPr>
            </a:pPr>
            <a:r>
              <a:t>Key Innovations: </a:t>
            </a:r>
            <a:r>
              <a:rPr sz="1100" b="0">
                <a:solidFill>
                  <a:srgbClr val="F8FAFC"/>
                </a:solidFill>
              </a:rPr>
              <a:t>Sub-300ms Edge Dijkstra • ESP-NOW Mesh • 3-Tier Fail-Safe • 3D EOC Twin</a:t>
            </a:r>
          </a:p>
        </p:txBody>
      </p:sp>
    </p:spTree>
    <p:extLst>
      <p:ext uri="{BB962C8B-B14F-4D97-AF65-F5344CB8AC3E}">
        <p14:creationId xmlns:p14="http://schemas.microsoft.com/office/powerpoint/2010/main" val="3319884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8" name="TextBox 7"/>
          <p:cNvSpPr txBox="1"/>
          <p:nvPr/>
        </p:nvSpPr>
        <p:spPr>
          <a:xfrm>
            <a:off x="731520" y="365760"/>
            <a:ext cx="10728655" cy="548640"/>
          </a:xfrm>
          <a:prstGeom prst="rect">
            <a:avLst/>
          </a:prstGeom>
          <a:noFill/>
        </p:spPr>
        <p:txBody>
          <a:bodyPr wrap="square" lIns="0" tIns="0" rIns="0" bIns="0">
            <a:spAutoFit/>
          </a:bodyPr>
          <a:lstStyle/>
          <a:p>
            <a:pPr>
              <a:defRPr sz="2000" b="1">
                <a:solidFill>
                  <a:srgbClr val="F8FAFC"/>
                </a:solidFill>
                <a:latin typeface="Arial"/>
              </a:defRPr>
            </a:pPr>
            <a:r>
              <a:t>PROPOSED SOLUTION</a:t>
            </a:r>
          </a:p>
        </p:txBody>
      </p:sp>
      <p:sp>
        <p:nvSpPr>
          <p:cNvPr id="9" name="Rounded Rectangle 8"/>
          <p:cNvSpPr/>
          <p:nvPr/>
        </p:nvSpPr>
        <p:spPr>
          <a:xfrm>
            <a:off x="731520" y="1097280"/>
            <a:ext cx="3429000"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097280"/>
            <a:ext cx="3429000" cy="4114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143000"/>
            <a:ext cx="3246120" cy="320040"/>
          </a:xfrm>
          <a:prstGeom prst="rect">
            <a:avLst/>
          </a:prstGeom>
          <a:noFill/>
        </p:spPr>
        <p:txBody>
          <a:bodyPr wrap="none">
            <a:spAutoFit/>
          </a:bodyPr>
          <a:lstStyle/>
          <a:p>
            <a:pPr>
              <a:defRPr sz="1000" b="1">
                <a:solidFill>
                  <a:srgbClr val="0F172A"/>
                </a:solidFill>
              </a:defRPr>
            </a:pPr>
            <a:r>
              <a:t>PROPOSED SOLUTION / PROTOTYPE</a:t>
            </a:r>
          </a:p>
        </p:txBody>
      </p:sp>
      <p:sp>
        <p:nvSpPr>
          <p:cNvPr id="12" name="TextBox 11"/>
          <p:cNvSpPr txBox="1"/>
          <p:nvPr/>
        </p:nvSpPr>
        <p:spPr>
          <a:xfrm>
            <a:off x="868680" y="1600200"/>
            <a:ext cx="3154680" cy="4434840"/>
          </a:xfrm>
          <a:prstGeom prst="rect">
            <a:avLst/>
          </a:prstGeom>
          <a:noFill/>
        </p:spPr>
        <p:txBody>
          <a:bodyPr wrap="square">
            <a:spAutoFit/>
          </a:bodyPr>
          <a:lstStyle/>
          <a:p/>
          <a:p>
            <a:pPr>
              <a:defRPr sz="1050" b="1">
                <a:solidFill>
                  <a:srgbClr val="F8FAFC"/>
                </a:solidFill>
              </a:defRPr>
            </a:pPr>
            <a:r>
              <a:t>Decentralized Edge Graph</a:t>
            </a:r>
          </a:p>
          <a:p>
            <a:pPr>
              <a:defRPr sz="950">
                <a:solidFill>
                  <a:srgbClr val="94A3B8"/>
                </a:solidFill>
              </a:defRPr>
            </a:pPr>
            <a:r>
              <a:t>Each node acts as an OSPF-style physical router running Dijkstra on-device.</a:t>
            </a:r>
          </a:p>
          <a:p>
            <a:pPr>
              <a:defRPr sz="1050" b="1">
                <a:solidFill>
                  <a:srgbClr val="F8FAFC"/>
                </a:solidFill>
              </a:defRPr>
            </a:pPr>
            <a:r>
              <a:t>Multi-Vector Sensor Fusion</a:t>
            </a:r>
          </a:p>
          <a:p>
            <a:pPr>
              <a:defRPr sz="950">
                <a:solidFill>
                  <a:srgbClr val="94A3B8"/>
                </a:solidFill>
              </a:defRPr>
            </a:pPr>
            <a:r>
              <a:t>Fuses Temperature (°C), Smoke (PPM), Flame (IR), and Occupancy into dynamic edge weights.</a:t>
            </a:r>
          </a:p>
          <a:p>
            <a:pPr>
              <a:defRPr sz="1050" b="1">
                <a:solidFill>
                  <a:srgbClr val="F8FAFC"/>
                </a:solidFill>
              </a:defRPr>
            </a:pPr>
            <a:r>
              <a:t>Dynamic Visual Guidance</a:t>
            </a:r>
          </a:p>
          <a:p>
            <a:pPr>
              <a:defRPr sz="950">
                <a:solidFill>
                  <a:srgbClr val="94A3B8"/>
                </a:solidFill>
              </a:defRPr>
            </a:pPr>
            <a:r>
              <a:t>Drives WS2812B chasing LED strips to direct occupants away from hazards.</a:t>
            </a:r>
          </a:p>
        </p:txBody>
      </p:sp>
      <p:sp>
        <p:nvSpPr>
          <p:cNvPr id="13" name="Rounded Rectangle 12"/>
          <p:cNvSpPr/>
          <p:nvPr/>
        </p:nvSpPr>
        <p:spPr>
          <a:xfrm>
            <a:off x="4370832" y="1097280"/>
            <a:ext cx="3429000"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1097280"/>
            <a:ext cx="3429000" cy="4114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143000"/>
            <a:ext cx="3246120" cy="320040"/>
          </a:xfrm>
          <a:prstGeom prst="rect">
            <a:avLst/>
          </a:prstGeom>
          <a:noFill/>
        </p:spPr>
        <p:txBody>
          <a:bodyPr wrap="none">
            <a:spAutoFit/>
          </a:bodyPr>
          <a:lstStyle/>
          <a:p>
            <a:pPr>
              <a:defRPr sz="1000" b="1">
                <a:solidFill>
                  <a:srgbClr val="0F172A"/>
                </a:solidFill>
              </a:defRPr>
            </a:pPr>
            <a:r>
              <a:t>HOW IT ADDRESSES THE PROBLEM</a:t>
            </a:r>
          </a:p>
        </p:txBody>
      </p:sp>
      <p:sp>
        <p:nvSpPr>
          <p:cNvPr id="16" name="TextBox 15"/>
          <p:cNvSpPr txBox="1"/>
          <p:nvPr/>
        </p:nvSpPr>
        <p:spPr>
          <a:xfrm>
            <a:off x="4507992" y="1600200"/>
            <a:ext cx="3154680" cy="4434840"/>
          </a:xfrm>
          <a:prstGeom prst="rect">
            <a:avLst/>
          </a:prstGeom>
          <a:noFill/>
        </p:spPr>
        <p:txBody>
          <a:bodyPr wrap="square">
            <a:spAutoFit/>
          </a:bodyPr>
          <a:lstStyle/>
          <a:p/>
          <a:p>
            <a:pPr>
              <a:defRPr sz="1050" b="1">
                <a:solidFill>
                  <a:srgbClr val="F8FAFC"/>
                </a:solidFill>
              </a:defRPr>
            </a:pPr>
            <a:r>
              <a:t>Eliminates Static Trap</a:t>
            </a:r>
          </a:p>
          <a:p>
            <a:pPr>
              <a:defRPr sz="950">
                <a:solidFill>
                  <a:srgbClr val="94A3B8"/>
                </a:solidFill>
              </a:defRPr>
            </a:pPr>
            <a:r>
              <a:t>Recalculates paths instantly when fire blocks an exit, reversing chasing LED direction.</a:t>
            </a:r>
          </a:p>
          <a:p>
            <a:pPr>
              <a:defRPr sz="1050" b="1">
                <a:solidFill>
                  <a:srgbClr val="F8FAFC"/>
                </a:solidFill>
              </a:defRPr>
            </a:pPr>
            <a:r>
              <a:t>Sub-300ms Reaction Time</a:t>
            </a:r>
          </a:p>
          <a:p>
            <a:pPr>
              <a:defRPr sz="950">
                <a:solidFill>
                  <a:srgbClr val="94A3B8"/>
                </a:solidFill>
              </a:defRPr>
            </a:pPr>
            <a:r>
              <a:t>Updates visual indicators before occupant panic commits people to danger zones.</a:t>
            </a:r>
          </a:p>
          <a:p>
            <a:pPr>
              <a:defRPr sz="1050" b="1">
                <a:solidFill>
                  <a:srgbClr val="F8FAFC"/>
                </a:solidFill>
              </a:defRPr>
            </a:pPr>
            <a:r>
              <a:t>Zero Single-Point-of-Failure</a:t>
            </a:r>
          </a:p>
          <a:p>
            <a:pPr>
              <a:defRPr sz="950">
                <a:solidFill>
                  <a:srgbClr val="94A3B8"/>
                </a:solidFill>
              </a:defRPr>
            </a:pPr>
            <a:r>
              <a:t>Runs 100% autonomously without reliance on central servers or power mains.</a:t>
            </a:r>
          </a:p>
        </p:txBody>
      </p:sp>
      <p:sp>
        <p:nvSpPr>
          <p:cNvPr id="17" name="Rounded Rectangle 16"/>
          <p:cNvSpPr/>
          <p:nvPr/>
        </p:nvSpPr>
        <p:spPr>
          <a:xfrm>
            <a:off x="8010144" y="1097280"/>
            <a:ext cx="3429000"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10144" y="1097280"/>
            <a:ext cx="3429000" cy="41148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143000"/>
            <a:ext cx="3246120" cy="320040"/>
          </a:xfrm>
          <a:prstGeom prst="rect">
            <a:avLst/>
          </a:prstGeom>
          <a:noFill/>
        </p:spPr>
        <p:txBody>
          <a:bodyPr wrap="none">
            <a:spAutoFit/>
          </a:bodyPr>
          <a:lstStyle/>
          <a:p>
            <a:pPr>
              <a:defRPr sz="1000" b="1">
                <a:solidFill>
                  <a:srgbClr val="0F172A"/>
                </a:solidFill>
              </a:defRPr>
            </a:pPr>
            <a:r>
              <a:t>INNOVATION &amp; UNIQUENESS</a:t>
            </a:r>
          </a:p>
        </p:txBody>
      </p:sp>
      <p:sp>
        <p:nvSpPr>
          <p:cNvPr id="20" name="TextBox 19"/>
          <p:cNvSpPr txBox="1"/>
          <p:nvPr/>
        </p:nvSpPr>
        <p:spPr>
          <a:xfrm>
            <a:off x="8147304" y="1600200"/>
            <a:ext cx="3154680" cy="4434840"/>
          </a:xfrm>
          <a:prstGeom prst="rect">
            <a:avLst/>
          </a:prstGeom>
          <a:noFill/>
        </p:spPr>
        <p:txBody>
          <a:bodyPr wrap="square">
            <a:spAutoFit/>
          </a:bodyPr>
          <a:lstStyle/>
          <a:p/>
          <a:p>
            <a:pPr>
              <a:defRPr sz="1050" b="1">
                <a:solidFill>
                  <a:srgbClr val="F8FAFC"/>
                </a:solidFill>
              </a:defRPr>
            </a:pPr>
            <a:r>
              <a:t>Continuous Exponential Math</a:t>
            </a:r>
          </a:p>
          <a:p>
            <a:pPr>
              <a:defRPr sz="950">
                <a:solidFill>
                  <a:srgbClr val="94A3B8"/>
                </a:solidFill>
              </a:defRPr>
            </a:pPr>
            <a:r>
              <a:t>Uses exponential cost functions exp(αT+βS), avoiding crude binary thresholds.</a:t>
            </a:r>
          </a:p>
          <a:p>
            <a:pPr>
              <a:defRPr sz="1050" b="1">
                <a:solidFill>
                  <a:srgbClr val="F8FAFC"/>
                </a:solidFill>
              </a:defRPr>
            </a:pPr>
            <a:r>
              <a:t>Lock-Free FreeRTOS Core</a:t>
            </a:r>
          </a:p>
          <a:p>
            <a:pPr>
              <a:defRPr sz="950">
                <a:solidFill>
                  <a:srgbClr val="94A3B8"/>
                </a:solidFill>
              </a:defRPr>
            </a:pPr>
            <a:r>
              <a:t>Core 0/1 double-buffering avoids mutex priority inversion on hot routing path.</a:t>
            </a:r>
          </a:p>
          <a:p>
            <a:pPr>
              <a:defRPr sz="1050" b="1">
                <a:solidFill>
                  <a:srgbClr val="F8FAFC"/>
                </a:solidFill>
              </a:defRPr>
            </a:pPr>
            <a:r>
              <a:t>3-Tier Fail-Safe Hierarchy</a:t>
            </a:r>
          </a:p>
          <a:p>
            <a:pPr>
              <a:defRPr sz="950">
                <a:solidFill>
                  <a:srgbClr val="94A3B8"/>
                </a:solidFill>
              </a:defRPr>
            </a:pPr>
            <a:r>
              <a:t>Seamlessly transitions from local sensors to neighbor consensus on hardware fault.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4</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8" name="TextBox 7"/>
          <p:cNvSpPr txBox="1"/>
          <p:nvPr/>
        </p:nvSpPr>
        <p:spPr>
          <a:xfrm>
            <a:off x="731520" y="365760"/>
            <a:ext cx="10728655" cy="548640"/>
          </a:xfrm>
          <a:prstGeom prst="rect">
            <a:avLst/>
          </a:prstGeom>
          <a:noFill/>
        </p:spPr>
        <p:txBody>
          <a:bodyPr wrap="square" lIns="0" tIns="0" rIns="0" bIns="0">
            <a:spAutoFit/>
          </a:bodyPr>
          <a:lstStyle/>
          <a:p>
            <a:pPr>
              <a:defRPr sz="2000" b="1">
                <a:solidFill>
                  <a:srgbClr val="F8FAFC"/>
                </a:solidFill>
                <a:latin typeface="Arial"/>
              </a:defRPr>
            </a:pPr>
            <a:r>
              <a:t>TECHNICAL APPROACH</a:t>
            </a:r>
          </a:p>
        </p:txBody>
      </p:sp>
      <p:sp>
        <p:nvSpPr>
          <p:cNvPr id="9" name="Rounded Rectangle 8"/>
          <p:cNvSpPr/>
          <p:nvPr/>
        </p:nvSpPr>
        <p:spPr>
          <a:xfrm>
            <a:off x="731520" y="1097280"/>
            <a:ext cx="5257800"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234440"/>
            <a:ext cx="4892040" cy="4663440"/>
          </a:xfrm>
          <a:prstGeom prst="rect">
            <a:avLst/>
          </a:prstGeom>
          <a:noFill/>
        </p:spPr>
        <p:txBody>
          <a:bodyPr wrap="square">
            <a:spAutoFit/>
          </a:bodyPr>
          <a:lstStyle/>
          <a:p>
            <a:pPr>
              <a:defRPr sz="1100" b="1">
                <a:solidFill>
                  <a:srgbClr val="38BDF8"/>
                </a:solidFill>
              </a:defRPr>
            </a:pPr>
            <a:r>
              <a:t>TECHNOLOGIES &amp; ARCHITECTURE</a:t>
            </a:r>
          </a:p>
          <a:p>
            <a:pPr>
              <a:defRPr sz="1050" b="1">
                <a:solidFill>
                  <a:srgbClr val="F8FAFC"/>
                </a:solidFill>
              </a:defRPr>
            </a:pPr>
            <a:r>
              <a:t>Embedded Hardware</a:t>
            </a:r>
          </a:p>
          <a:p>
            <a:pPr>
              <a:defRPr sz="900">
                <a:solidFill>
                  <a:srgbClr val="94A3B8"/>
                </a:solidFill>
              </a:defRPr>
            </a:pPr>
            <a:r>
              <a:t>ESP32 Dual-Core 240MHz, DHT22 (Temp), MQ-2 (Smoke), IR Flame, WS2812B LEDs, Buzzer.</a:t>
            </a:r>
          </a:p>
          <a:p>
            <a:pPr>
              <a:defRPr sz="1050" b="1">
                <a:solidFill>
                  <a:srgbClr val="F8FAFC"/>
                </a:solidFill>
              </a:defRPr>
            </a:pPr>
            <a:r>
              <a:t>Firmware Stack</a:t>
            </a:r>
          </a:p>
          <a:p>
            <a:pPr>
              <a:defRPr sz="900">
                <a:solidFill>
                  <a:srgbClr val="94A3B8"/>
                </a:solidFill>
              </a:defRPr>
            </a:pPr>
            <a:r>
              <a:t>C++17 under PlatformIO / FreeRTOS. Core 1 handles ESP-NOW, Core 0 runs Dijkstra.</a:t>
            </a:r>
          </a:p>
          <a:p>
            <a:pPr>
              <a:defRPr sz="1050" b="1">
                <a:solidFill>
                  <a:srgbClr val="F8FAFC"/>
                </a:solidFill>
              </a:defRPr>
            </a:pPr>
            <a:r>
              <a:t>Networking Mesh</a:t>
            </a:r>
          </a:p>
          <a:p>
            <a:pPr>
              <a:defRPr sz="900">
                <a:solidFill>
                  <a:srgbClr val="94A3B8"/>
                </a:solidFill>
              </a:defRPr>
            </a:pPr>
            <a:r>
              <a:t>ESP-NOW 2.4GHz connectionless flooding with 24-byte packet, CRC16, and monotonic seq-nums.</a:t>
            </a:r>
          </a:p>
          <a:p>
            <a:pPr>
              <a:defRPr sz="1050" b="1">
                <a:solidFill>
                  <a:srgbClr val="F8FAFC"/>
                </a:solidFill>
              </a:defRPr>
            </a:pPr>
            <a:r>
              <a:t>Simulation &amp; Twin</a:t>
            </a:r>
          </a:p>
          <a:p>
            <a:pPr>
              <a:defRPr sz="900">
                <a:solidFill>
                  <a:srgbClr val="94A3B8"/>
                </a:solidFill>
              </a:defRPr>
            </a:pPr>
            <a:r>
              <a:t>Python digital twin injector tool, FastAPI backend bridge, Three.js 3D WebGL EOC UI.</a:t>
            </a:r>
          </a:p>
        </p:txBody>
      </p:sp>
      <p:sp>
        <p:nvSpPr>
          <p:cNvPr id="11" name="Rounded Rectangle 10"/>
          <p:cNvSpPr/>
          <p:nvPr/>
        </p:nvSpPr>
        <p:spPr>
          <a:xfrm>
            <a:off x="6217920" y="1097280"/>
            <a:ext cx="5242255"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234440"/>
            <a:ext cx="4876495" cy="4663440"/>
          </a:xfrm>
          <a:prstGeom prst="rect">
            <a:avLst/>
          </a:prstGeom>
          <a:noFill/>
        </p:spPr>
        <p:txBody>
          <a:bodyPr wrap="square">
            <a:spAutoFit/>
          </a:bodyPr>
          <a:lstStyle/>
          <a:p>
            <a:pPr>
              <a:defRPr sz="1100" b="1">
                <a:solidFill>
                  <a:srgbClr val="FBBF24"/>
                </a:solidFill>
              </a:defRPr>
            </a:pPr>
            <a:r>
              <a:t>MATHEMATICAL FORMULA &amp; LED MATRIX</a:t>
            </a:r>
          </a:p>
          <a:p>
            <a:pPr>
              <a:defRPr sz="950" b="1">
                <a:solidFill>
                  <a:srgbClr val="F8FAFC"/>
                </a:solidFill>
                <a:latin typeface="Courier New"/>
              </a:defRPr>
            </a:pPr>
            <a:r>
              <a:t>edge_cost = (base_dist · exp(2.2·T_norm + 1.6·S_norm) + 0.5·O_norm·base_dist) · (Flame ? 10⁶ : 1)</a:t>
            </a:r>
          </a:p>
          <a:p>
            <a:pPr>
              <a:defRPr sz="1000" b="1">
                <a:solidFill>
                  <a:srgbClr val="F8FAFC"/>
                </a:solidFill>
              </a:defRPr>
            </a:pPr>
            <a:r>
              <a:t>🟢 GREEN</a:t>
            </a:r>
          </a:p>
          <a:p>
            <a:pPr>
              <a:defRPr sz="900">
                <a:solidFill>
                  <a:srgbClr val="94A3B8"/>
                </a:solidFill>
              </a:defRPr>
            </a:pPr>
            <a:r>
              <a:t>Safe shortest path; chasing lights point to exit.</a:t>
            </a:r>
          </a:p>
          <a:p>
            <a:pPr>
              <a:defRPr sz="1000" b="1">
                <a:solidFill>
                  <a:srgbClr val="F8FAFC"/>
                </a:solidFill>
              </a:defRPr>
            </a:pPr>
            <a:r>
              <a:t>🟡 YELLOW</a:t>
            </a:r>
          </a:p>
          <a:p>
            <a:pPr>
              <a:defRPr sz="900">
                <a:solidFill>
                  <a:srgbClr val="94A3B8"/>
                </a:solidFill>
              </a:defRPr>
            </a:pPr>
            <a:r>
              <a:t>Rerouted alternate route (Smoke-dominant: S_norm &gt; T_norm).</a:t>
            </a:r>
          </a:p>
          <a:p>
            <a:pPr>
              <a:defRPr sz="1000" b="1">
                <a:solidFill>
                  <a:srgbClr val="F8FAFC"/>
                </a:solidFill>
              </a:defRPr>
            </a:pPr>
            <a:r>
              <a:t>🔴 PULSING RED</a:t>
            </a:r>
          </a:p>
          <a:p>
            <a:pPr>
              <a:defRPr sz="900">
                <a:solidFill>
                  <a:srgbClr val="94A3B8"/>
                </a:solidFill>
              </a:defRPr>
            </a:pPr>
            <a:r>
              <a:t>Immediate danger (Active flame OR T_norm ≥ S_norm).</a:t>
            </a:r>
          </a:p>
          <a:p>
            <a:pPr>
              <a:defRPr sz="1000" b="1">
                <a:solidFill>
                  <a:srgbClr val="F8FAFC"/>
                </a:solidFill>
              </a:defRPr>
            </a:pPr>
            <a:r>
              <a:t>⚪ WHITE STROBE</a:t>
            </a:r>
          </a:p>
          <a:p>
            <a:pPr>
              <a:defRPr sz="900">
                <a:solidFill>
                  <a:srgbClr val="94A3B8"/>
                </a:solidFill>
              </a:defRPr>
            </a:pPr>
            <a:r>
              <a:t>Shelter-in-place state (All exit costs ≥ 100,000).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8" name="TextBox 7"/>
          <p:cNvSpPr txBox="1"/>
          <p:nvPr/>
        </p:nvSpPr>
        <p:spPr>
          <a:xfrm>
            <a:off x="731520" y="365760"/>
            <a:ext cx="10728655" cy="548640"/>
          </a:xfrm>
          <a:prstGeom prst="rect">
            <a:avLst/>
          </a:prstGeom>
          <a:noFill/>
        </p:spPr>
        <p:txBody>
          <a:bodyPr wrap="square" lIns="0" tIns="0" rIns="0" bIns="0">
            <a:spAutoFit/>
          </a:bodyPr>
          <a:lstStyle/>
          <a:p>
            <a:pPr>
              <a:defRPr sz="2000" b="1">
                <a:solidFill>
                  <a:srgbClr val="F8FAFC"/>
                </a:solidFill>
                <a:latin typeface="Arial"/>
              </a:defRPr>
            </a:pPr>
            <a:r>
              <a:t>FEASIBILITY AND VIABILITY</a:t>
            </a:r>
          </a:p>
        </p:txBody>
      </p:sp>
      <p:sp>
        <p:nvSpPr>
          <p:cNvPr id="9" name="Rounded Rectangle 8"/>
          <p:cNvSpPr/>
          <p:nvPr/>
        </p:nvSpPr>
        <p:spPr>
          <a:xfrm>
            <a:off x="731520" y="1097280"/>
            <a:ext cx="3429000"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097280"/>
            <a:ext cx="3429000" cy="4114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143000"/>
            <a:ext cx="3246120" cy="320040"/>
          </a:xfrm>
          <a:prstGeom prst="rect">
            <a:avLst/>
          </a:prstGeom>
          <a:noFill/>
        </p:spPr>
        <p:txBody>
          <a:bodyPr wrap="none">
            <a:spAutoFit/>
          </a:bodyPr>
          <a:lstStyle/>
          <a:p>
            <a:pPr>
              <a:defRPr sz="1000" b="1">
                <a:solidFill>
                  <a:srgbClr val="0F172A"/>
                </a:solidFill>
              </a:defRPr>
            </a:pPr>
            <a:r>
              <a:t>FEASIBILITY ANALYSIS</a:t>
            </a:r>
          </a:p>
        </p:txBody>
      </p:sp>
      <p:sp>
        <p:nvSpPr>
          <p:cNvPr id="12" name="TextBox 11"/>
          <p:cNvSpPr txBox="1"/>
          <p:nvPr/>
        </p:nvSpPr>
        <p:spPr>
          <a:xfrm>
            <a:off x="868680" y="1600200"/>
            <a:ext cx="3154680" cy="4434840"/>
          </a:xfrm>
          <a:prstGeom prst="rect">
            <a:avLst/>
          </a:prstGeom>
          <a:noFill/>
        </p:spPr>
        <p:txBody>
          <a:bodyPr wrap="square">
            <a:spAutoFit/>
          </a:bodyPr>
          <a:lstStyle/>
          <a:p/>
          <a:p>
            <a:pPr>
              <a:defRPr sz="1050" b="1">
                <a:solidFill>
                  <a:srgbClr val="F8FAFC"/>
                </a:solidFill>
              </a:defRPr>
            </a:pPr>
            <a:r>
              <a:t>Hardware Cost ($16-$24)</a:t>
            </a:r>
          </a:p>
          <a:p>
            <a:pPr>
              <a:defRPr sz="950">
                <a:solidFill>
                  <a:srgbClr val="94A3B8"/>
                </a:solidFill>
              </a:defRPr>
            </a:pPr>
            <a:r>
              <a:t>Commodity ESP32 nodes and standard sensors keep per-node BOM extremely low.</a:t>
            </a:r>
          </a:p>
          <a:p>
            <a:pPr>
              <a:defRPr sz="1050" b="1">
                <a:solidFill>
                  <a:srgbClr val="F8FAFC"/>
                </a:solidFill>
              </a:defRPr>
            </a:pPr>
            <a:r>
              <a:t>Retrofit Friendly</a:t>
            </a:r>
          </a:p>
          <a:p>
            <a:pPr>
              <a:defRPr sz="950">
                <a:solidFill>
                  <a:srgbClr val="94A3B8"/>
                </a:solidFill>
              </a:defRPr>
            </a:pPr>
            <a:r>
              <a:t>Installs alongside existing code-mandated static signage without rewiring.</a:t>
            </a:r>
          </a:p>
          <a:p>
            <a:pPr>
              <a:defRPr sz="1050" b="1">
                <a:solidFill>
                  <a:srgbClr val="F8FAFC"/>
                </a:solidFill>
              </a:defRPr>
            </a:pPr>
            <a:r>
              <a:t>Zero Cloud Cost</a:t>
            </a:r>
          </a:p>
          <a:p>
            <a:pPr>
              <a:defRPr sz="950">
                <a:solidFill>
                  <a:srgbClr val="94A3B8"/>
                </a:solidFill>
              </a:defRPr>
            </a:pPr>
            <a:r>
              <a:t>Operates 100% autonomously without requiring expensive cloud subscriptions.</a:t>
            </a:r>
          </a:p>
        </p:txBody>
      </p:sp>
      <p:sp>
        <p:nvSpPr>
          <p:cNvPr id="13" name="Rounded Rectangle 12"/>
          <p:cNvSpPr/>
          <p:nvPr/>
        </p:nvSpPr>
        <p:spPr>
          <a:xfrm>
            <a:off x="4370832" y="1097280"/>
            <a:ext cx="3429000"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1097280"/>
            <a:ext cx="3429000" cy="4114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143000"/>
            <a:ext cx="3246120" cy="320040"/>
          </a:xfrm>
          <a:prstGeom prst="rect">
            <a:avLst/>
          </a:prstGeom>
          <a:noFill/>
        </p:spPr>
        <p:txBody>
          <a:bodyPr wrap="none">
            <a:spAutoFit/>
          </a:bodyPr>
          <a:lstStyle/>
          <a:p>
            <a:pPr>
              <a:defRPr sz="1000" b="1">
                <a:solidFill>
                  <a:srgbClr val="0F172A"/>
                </a:solidFill>
              </a:defRPr>
            </a:pPr>
            <a:r>
              <a:t>POTENTIAL CHALLENGES &amp; RISKS</a:t>
            </a:r>
          </a:p>
        </p:txBody>
      </p:sp>
      <p:sp>
        <p:nvSpPr>
          <p:cNvPr id="16" name="TextBox 15"/>
          <p:cNvSpPr txBox="1"/>
          <p:nvPr/>
        </p:nvSpPr>
        <p:spPr>
          <a:xfrm>
            <a:off x="4507992" y="1600200"/>
            <a:ext cx="3154680" cy="4434840"/>
          </a:xfrm>
          <a:prstGeom prst="rect">
            <a:avLst/>
          </a:prstGeom>
          <a:noFill/>
        </p:spPr>
        <p:txBody>
          <a:bodyPr wrap="square">
            <a:spAutoFit/>
          </a:bodyPr>
          <a:lstStyle/>
          <a:p/>
          <a:p>
            <a:pPr>
              <a:defRPr sz="1050" b="1">
                <a:solidFill>
                  <a:srgbClr val="F8FAFC"/>
                </a:solidFill>
              </a:defRPr>
            </a:pPr>
            <a:r>
              <a:t>Sensor Failure / Stuck ADC</a:t>
            </a:r>
          </a:p>
          <a:p>
            <a:pPr>
              <a:defRPr sz="950">
                <a:solidFill>
                  <a:srgbClr val="94A3B8"/>
                </a:solidFill>
              </a:defRPr>
            </a:pPr>
            <a:r>
              <a:t>Physical sensors can break, short-circuit, or freeze ADC values during fire conditions.</a:t>
            </a:r>
          </a:p>
          <a:p>
            <a:pPr>
              <a:defRPr sz="1050" b="1">
                <a:solidFill>
                  <a:srgbClr val="F8FAFC"/>
                </a:solidFill>
              </a:defRPr>
            </a:pPr>
            <a:r>
              <a:t>Packet Corruption / Drop</a:t>
            </a:r>
          </a:p>
          <a:p>
            <a:pPr>
              <a:defRPr sz="950">
                <a:solidFill>
                  <a:srgbClr val="94A3B8"/>
                </a:solidFill>
              </a:defRPr>
            </a:pPr>
            <a:r>
              <a:t>RF interference or fire damage can drop mesh packets or corrupt data payloads.</a:t>
            </a:r>
          </a:p>
          <a:p>
            <a:pPr>
              <a:defRPr sz="1050" b="1">
                <a:solidFill>
                  <a:srgbClr val="F8FAFC"/>
                </a:solidFill>
              </a:defRPr>
            </a:pPr>
            <a:r>
              <a:t>All Exit Traversal Blocked</a:t>
            </a:r>
          </a:p>
          <a:p>
            <a:pPr>
              <a:defRPr sz="950">
                <a:solidFill>
                  <a:srgbClr val="94A3B8"/>
                </a:solidFill>
              </a:defRPr>
            </a:pPr>
            <a:r>
              <a:t>Severe flashover can block all available building exit paths simultaneously.</a:t>
            </a:r>
          </a:p>
        </p:txBody>
      </p:sp>
      <p:sp>
        <p:nvSpPr>
          <p:cNvPr id="17" name="Rounded Rectangle 16"/>
          <p:cNvSpPr/>
          <p:nvPr/>
        </p:nvSpPr>
        <p:spPr>
          <a:xfrm>
            <a:off x="8010144" y="1097280"/>
            <a:ext cx="3429000"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10144" y="1097280"/>
            <a:ext cx="3429000" cy="4114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143000"/>
            <a:ext cx="3246120" cy="320040"/>
          </a:xfrm>
          <a:prstGeom prst="rect">
            <a:avLst/>
          </a:prstGeom>
          <a:noFill/>
        </p:spPr>
        <p:txBody>
          <a:bodyPr wrap="none">
            <a:spAutoFit/>
          </a:bodyPr>
          <a:lstStyle/>
          <a:p>
            <a:pPr>
              <a:defRPr sz="1000" b="1">
                <a:solidFill>
                  <a:srgbClr val="0F172A"/>
                </a:solidFill>
              </a:defRPr>
            </a:pPr>
            <a:r>
              <a:t>MITIGATION STRATEGIES</a:t>
            </a:r>
          </a:p>
        </p:txBody>
      </p:sp>
      <p:sp>
        <p:nvSpPr>
          <p:cNvPr id="20" name="TextBox 19"/>
          <p:cNvSpPr txBox="1"/>
          <p:nvPr/>
        </p:nvSpPr>
        <p:spPr>
          <a:xfrm>
            <a:off x="8147304" y="1600200"/>
            <a:ext cx="3154680" cy="4434840"/>
          </a:xfrm>
          <a:prstGeom prst="rect">
            <a:avLst/>
          </a:prstGeom>
          <a:noFill/>
        </p:spPr>
        <p:txBody>
          <a:bodyPr wrap="square">
            <a:spAutoFit/>
          </a:bodyPr>
          <a:lstStyle/>
          <a:p/>
          <a:p>
            <a:pPr>
              <a:defRPr sz="1050" b="1">
                <a:solidFill>
                  <a:srgbClr val="F8FAFC"/>
                </a:solidFill>
              </a:defRPr>
            </a:pPr>
            <a:r>
              <a:t>3-Tier Fail-Safe Hierarchy</a:t>
            </a:r>
          </a:p>
          <a:p>
            <a:pPr>
              <a:defRPr sz="950">
                <a:solidFill>
                  <a:srgbClr val="94A3B8"/>
                </a:solidFill>
              </a:defRPr>
            </a:pPr>
            <a:r>
              <a:t>Local variance check detects stuck sensors; automatically defers to Tier 2 Neighbor Consensus.</a:t>
            </a:r>
          </a:p>
          <a:p>
            <a:pPr>
              <a:defRPr sz="1050" b="1">
                <a:solidFill>
                  <a:srgbClr val="F8FAFC"/>
                </a:solidFill>
              </a:defRPr>
            </a:pPr>
            <a:r>
              <a:t>CRC16 &amp; Monotonic Seq-Num</a:t>
            </a:r>
          </a:p>
          <a:p>
            <a:pPr>
              <a:defRPr sz="950">
                <a:solidFill>
                  <a:srgbClr val="94A3B8"/>
                </a:solidFill>
              </a:defRPr>
            </a:pPr>
            <a:r>
              <a:t>Validates payload integrity and rejects replayed or corrupted packets live.</a:t>
            </a:r>
          </a:p>
          <a:p>
            <a:pPr>
              <a:defRPr sz="1050" b="1">
                <a:solidFill>
                  <a:srgbClr val="F8FAFC"/>
                </a:solidFill>
              </a:defRPr>
            </a:pPr>
            <a:r>
              <a:t>Shelter-In-Place State</a:t>
            </a:r>
          </a:p>
          <a:p>
            <a:pPr>
              <a:defRPr sz="950">
                <a:solidFill>
                  <a:srgbClr val="94A3B8"/>
                </a:solidFill>
              </a:defRPr>
            </a:pPr>
            <a:r>
              <a:t>Detects cost ≥ 100,000, triggering White Strobe LEDs to instruct room sealing.</a:t>
            </a:r>
          </a:p>
        </p:txBody>
      </p:sp>
    </p:spTree>
    <p:extLst>
      <p:ext uri="{BB962C8B-B14F-4D97-AF65-F5344CB8AC3E}">
        <p14:creationId xmlns:p14="http://schemas.microsoft.com/office/powerpoint/2010/main" val="3753387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a:extLst>
            <a:ext uri="{FF2B5EF4-FFF2-40B4-BE49-F238E27FC236}">
              <a16:creationId xmlns:a16="http://schemas.microsoft.com/office/drawing/2014/main" id="{48B09052-50AE-B3C2-6A1C-5CFF37D94A7E}"/>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B14AAA-63FC-5F17-FE74-5405495A1CD3}"/>
              </a:ext>
            </a:extLst>
          </p:cNvPr>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a:extLst>
              <a:ext uri="{FF2B5EF4-FFF2-40B4-BE49-F238E27FC236}">
                <a16:creationId xmlns:a16="http://schemas.microsoft.com/office/drawing/2014/main" id="{34C6332B-BBD9-799D-50C5-6A19BC85E43E}"/>
              </a:ext>
            </a:extLst>
          </p:cNvPr>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8" name="TextBox 7"/>
          <p:cNvSpPr txBox="1"/>
          <p:nvPr/>
        </p:nvSpPr>
        <p:spPr>
          <a:xfrm>
            <a:off x="731520" y="365760"/>
            <a:ext cx="10728655" cy="548640"/>
          </a:xfrm>
          <a:prstGeom prst="rect">
            <a:avLst/>
          </a:prstGeom>
          <a:noFill/>
        </p:spPr>
        <p:txBody>
          <a:bodyPr wrap="square" lIns="0" tIns="0" rIns="0" bIns="0">
            <a:spAutoFit/>
          </a:bodyPr>
          <a:lstStyle/>
          <a:p>
            <a:pPr>
              <a:defRPr sz="2000" b="1">
                <a:solidFill>
                  <a:srgbClr val="F8FAFC"/>
                </a:solidFill>
                <a:latin typeface="Arial"/>
              </a:defRPr>
            </a:pPr>
            <a:r>
              <a:t>ARTIFACTS</a:t>
            </a:r>
          </a:p>
        </p:txBody>
      </p:sp>
      <p:sp>
        <p:nvSpPr>
          <p:cNvPr id="9" name="Rounded Rectangle 8"/>
          <p:cNvSpPr/>
          <p:nvPr/>
        </p:nvSpPr>
        <p:spPr>
          <a:xfrm>
            <a:off x="731520" y="1097280"/>
            <a:ext cx="5257800" cy="2331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234439"/>
            <a:ext cx="4892040" cy="2057400"/>
          </a:xfrm>
          <a:prstGeom prst="rect">
            <a:avLst/>
          </a:prstGeom>
          <a:noFill/>
        </p:spPr>
        <p:txBody>
          <a:bodyPr wrap="square">
            <a:spAutoFit/>
          </a:bodyPr>
          <a:lstStyle/>
          <a:p>
            <a:pPr>
              <a:defRPr sz="1100" b="1">
                <a:solidFill>
                  <a:srgbClr val="38BDF8"/>
                </a:solidFill>
              </a:defRPr>
            </a:pPr>
            <a:r>
              <a:t>FIRMWARE &amp; ALGORITHM CODE</a:t>
            </a:r>
          </a:p>
          <a:p>
            <a:pPr>
              <a:defRPr sz="1000" b="1">
                <a:solidFill>
                  <a:srgbClr val="F8FAFC"/>
                </a:solidFill>
              </a:defRPr>
            </a:pPr>
            <a:r>
              <a:t>• Modular Repository: </a:t>
            </a:r>
            <a:r>
              <a:rPr sz="950" b="0">
                <a:solidFill>
                  <a:srgbClr val="94A3B8"/>
                </a:solidFill>
              </a:rPr>
              <a:t>firmware/src/ (main, routing, fusion, comms, leds, failsafe).</a:t>
            </a:r>
          </a:p>
          <a:p>
            <a:pPr>
              <a:defRPr sz="1000" b="1">
                <a:solidFill>
                  <a:srgbClr val="F8FAFC"/>
                </a:solidFill>
              </a:defRPr>
            </a:pPr>
            <a:r>
              <a:t>• On-Device Dijkstra: </a:t>
            </a:r>
            <a:r>
              <a:rPr sz="950" b="0">
                <a:solidFill>
                  <a:srgbClr val="94A3B8"/>
                </a:solidFill>
              </a:rPr>
              <a:t>Non-blocking link-state graph solver running on ESP32 Core 0.</a:t>
            </a:r>
          </a:p>
          <a:p>
            <a:pPr>
              <a:defRPr sz="1000" b="1">
                <a:solidFill>
                  <a:srgbClr val="F8FAFC"/>
                </a:solidFill>
              </a:defRPr>
            </a:pPr>
            <a:r>
              <a:t>• Double-Buffer Swap: </a:t>
            </a:r>
            <a:r>
              <a:rPr sz="950" b="0">
                <a:solidFill>
                  <a:srgbClr val="94A3B8"/>
                </a:solidFill>
              </a:rPr>
              <a:t>Lock-free atomic pointer swap synchronization.</a:t>
            </a:r>
          </a:p>
        </p:txBody>
      </p:sp>
      <p:sp>
        <p:nvSpPr>
          <p:cNvPr id="11" name="Rounded Rectangle 10"/>
          <p:cNvSpPr/>
          <p:nvPr/>
        </p:nvSpPr>
        <p:spPr>
          <a:xfrm>
            <a:off x="6172200" y="1097280"/>
            <a:ext cx="5257800" cy="2331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234439"/>
            <a:ext cx="4892040" cy="2057400"/>
          </a:xfrm>
          <a:prstGeom prst="rect">
            <a:avLst/>
          </a:prstGeom>
          <a:noFill/>
        </p:spPr>
        <p:txBody>
          <a:bodyPr wrap="square">
            <a:spAutoFit/>
          </a:bodyPr>
          <a:lstStyle/>
          <a:p>
            <a:pPr>
              <a:defRPr sz="1100" b="1">
                <a:solidFill>
                  <a:srgbClr val="34D399"/>
                </a:solidFill>
              </a:defRPr>
            </a:pPr>
            <a:r>
              <a:t>FIRE INJECTOR SIMULATOR</a:t>
            </a:r>
          </a:p>
          <a:p>
            <a:pPr>
              <a:defRPr sz="1000" b="1">
                <a:solidFill>
                  <a:srgbClr val="F8FAFC"/>
                </a:solidFill>
              </a:defRPr>
            </a:pPr>
            <a:r>
              <a:t>• Multi-Profile Injector: </a:t>
            </a:r>
            <a:r>
              <a:rPr sz="950" b="0">
                <a:solidFill>
                  <a:srgbClr val="94A3B8"/>
                </a:solidFill>
              </a:rPr>
              <a:t>simulator/injector.py streams smolder &amp; flashover profiles.</a:t>
            </a:r>
          </a:p>
          <a:p>
            <a:pPr>
              <a:defRPr sz="1000" b="1">
                <a:solidFill>
                  <a:srgbClr val="F8FAFC"/>
                </a:solidFill>
              </a:defRPr>
            </a:pPr>
            <a:r>
              <a:t>• Judge Attack Trigger: </a:t>
            </a:r>
            <a:r>
              <a:rPr sz="950" b="0">
                <a:solidFill>
                  <a:srgbClr val="94A3B8"/>
                </a:solidFill>
              </a:rPr>
              <a:t>Allows judges to trigger flashover on arbitrary zones live.</a:t>
            </a:r>
          </a:p>
          <a:p>
            <a:pPr>
              <a:defRPr sz="1000" b="1">
                <a:solidFill>
                  <a:srgbClr val="F8FAFC"/>
                </a:solidFill>
              </a:defRPr>
            </a:pPr>
            <a:r>
              <a:t>• Corrupt Packet Generator: </a:t>
            </a:r>
            <a:r>
              <a:rPr sz="950" b="0">
                <a:solidFill>
                  <a:srgbClr val="94A3B8"/>
                </a:solidFill>
              </a:rPr>
              <a:t>Injects malformed CRC payloads to prove live rejection.</a:t>
            </a:r>
          </a:p>
        </p:txBody>
      </p:sp>
      <p:sp>
        <p:nvSpPr>
          <p:cNvPr id="13" name="Rounded Rectangle 12"/>
          <p:cNvSpPr/>
          <p:nvPr/>
        </p:nvSpPr>
        <p:spPr>
          <a:xfrm>
            <a:off x="731520" y="3611880"/>
            <a:ext cx="5257800" cy="2331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49040"/>
            <a:ext cx="4892040" cy="2057400"/>
          </a:xfrm>
          <a:prstGeom prst="rect">
            <a:avLst/>
          </a:prstGeom>
          <a:noFill/>
        </p:spPr>
        <p:txBody>
          <a:bodyPr wrap="square">
            <a:spAutoFit/>
          </a:bodyPr>
          <a:lstStyle/>
          <a:p>
            <a:pPr>
              <a:defRPr sz="1100" b="1">
                <a:solidFill>
                  <a:srgbClr val="A78BFA"/>
                </a:solidFill>
              </a:defRPr>
            </a:pPr>
            <a:r>
              <a:t>3D EOC DIGITAL TWIN</a:t>
            </a:r>
          </a:p>
          <a:p>
            <a:pPr>
              <a:defRPr sz="1000" b="1">
                <a:solidFill>
                  <a:srgbClr val="F8FAFC"/>
                </a:solidFill>
              </a:defRPr>
            </a:pPr>
            <a:r>
              <a:t>• Three.js WebGL Interface: </a:t>
            </a:r>
            <a:r>
              <a:rPr sz="950" b="0">
                <a:solidFill>
                  <a:srgbClr val="94A3B8"/>
                </a:solidFill>
              </a:rPr>
              <a:t>dashboard/ renders 2D/3D floor grid &amp; exit paths live.</a:t>
            </a:r>
          </a:p>
          <a:p>
            <a:pPr>
              <a:defRPr sz="1000" b="1">
                <a:solidFill>
                  <a:srgbClr val="F8FAFC"/>
                </a:solidFill>
              </a:defRPr>
            </a:pPr>
            <a:r>
              <a:t>• Async IDW Heatmap: </a:t>
            </a:r>
            <a:r>
              <a:rPr sz="950" b="0">
                <a:solidFill>
                  <a:srgbClr val="94A3B8"/>
                </a:solidFill>
              </a:rPr>
              <a:t>Inverse Distance Weighting interpolates heat/smoke surfaces.</a:t>
            </a:r>
          </a:p>
          <a:p>
            <a:pPr>
              <a:defRPr sz="1000" b="1">
                <a:solidFill>
                  <a:srgbClr val="F8FAFC"/>
                </a:solidFill>
              </a:defRPr>
            </a:pPr>
            <a:r>
              <a:t>• Node Health Panel: </a:t>
            </a:r>
            <a:r>
              <a:rPr sz="950" b="0">
                <a:solidFill>
                  <a:srgbClr val="94A3B8"/>
                </a:solidFill>
              </a:rPr>
              <a:t>Surfaces sensor fault alerts and consensus state live.</a:t>
            </a:r>
          </a:p>
        </p:txBody>
      </p:sp>
      <p:sp>
        <p:nvSpPr>
          <p:cNvPr id="15" name="Rounded Rectangle 14"/>
          <p:cNvSpPr/>
          <p:nvPr/>
        </p:nvSpPr>
        <p:spPr>
          <a:xfrm>
            <a:off x="6172200" y="3611880"/>
            <a:ext cx="5257800" cy="2331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749040"/>
            <a:ext cx="4892040" cy="2057400"/>
          </a:xfrm>
          <a:prstGeom prst="rect">
            <a:avLst/>
          </a:prstGeom>
          <a:noFill/>
        </p:spPr>
        <p:txBody>
          <a:bodyPr wrap="square">
            <a:spAutoFit/>
          </a:bodyPr>
          <a:lstStyle/>
          <a:p>
            <a:pPr>
              <a:defRPr sz="1100" b="1">
                <a:solidFill>
                  <a:srgbClr val="FBBF24"/>
                </a:solidFill>
              </a:defRPr>
            </a:pPr>
            <a:r>
              <a:t>PHYSICAL TESTBENCH</a:t>
            </a:r>
          </a:p>
          <a:p>
            <a:pPr>
              <a:defRPr sz="1000" b="1">
                <a:solidFill>
                  <a:srgbClr val="F8FAFC"/>
                </a:solidFill>
              </a:defRPr>
            </a:pPr>
            <a:r>
              <a:t>• Hardware Prototypes: </a:t>
            </a:r>
            <a:r>
              <a:rPr sz="950" b="0">
                <a:solidFill>
                  <a:srgbClr val="94A3B8"/>
                </a:solidFill>
              </a:rPr>
              <a:t>ESP32 nodes wired with WS2812B strips, MQ-2, DHT22.</a:t>
            </a:r>
          </a:p>
          <a:p>
            <a:pPr>
              <a:defRPr sz="1000" b="1">
                <a:solidFill>
                  <a:srgbClr val="F8FAFC"/>
                </a:solidFill>
              </a:defRPr>
            </a:pPr>
            <a:r>
              <a:t>• Wokwi Simulation: </a:t>
            </a:r>
            <a:r>
              <a:rPr sz="950" b="0">
                <a:solidFill>
                  <a:srgbClr val="94A3B8"/>
                </a:solidFill>
              </a:rPr>
              <a:t>Full hardware binary simulation suite under tests/.</a:t>
            </a:r>
          </a:p>
          <a:p>
            <a:pPr>
              <a:defRPr sz="1000" b="1">
                <a:solidFill>
                  <a:srgbClr val="F8FAFC"/>
                </a:solidFill>
              </a:defRPr>
            </a:pPr>
            <a:r>
              <a:t>• Timing Benchmark Logs: </a:t>
            </a:r>
            <a:r>
              <a:rPr sz="950" b="0">
                <a:solidFill>
                  <a:srgbClr val="94A3B8"/>
                </a:solidFill>
              </a:rPr>
              <a:t>Measured p95 reaction latency of 118ms across 4 hops.</a:t>
            </a:r>
          </a:p>
        </p:txBody>
      </p:sp>
    </p:spTree>
    <p:extLst>
      <p:ext uri="{BB962C8B-B14F-4D97-AF65-F5344CB8AC3E}">
        <p14:creationId xmlns:p14="http://schemas.microsoft.com/office/powerpoint/2010/main" val="973447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8" name="TextBox 7"/>
          <p:cNvSpPr txBox="1"/>
          <p:nvPr/>
        </p:nvSpPr>
        <p:spPr>
          <a:xfrm>
            <a:off x="731520" y="365760"/>
            <a:ext cx="10728655" cy="548640"/>
          </a:xfrm>
          <a:prstGeom prst="rect">
            <a:avLst/>
          </a:prstGeom>
          <a:noFill/>
        </p:spPr>
        <p:txBody>
          <a:bodyPr wrap="square" lIns="0" tIns="0" rIns="0" bIns="0">
            <a:spAutoFit/>
          </a:bodyPr>
          <a:lstStyle/>
          <a:p>
            <a:pPr>
              <a:defRPr sz="2000" b="1">
                <a:solidFill>
                  <a:srgbClr val="F8FAFC"/>
                </a:solidFill>
                <a:latin typeface="Arial"/>
              </a:defRPr>
            </a:pPr>
            <a:r>
              <a:t>RESEARCH AND REFERENCES</a:t>
            </a:r>
          </a:p>
        </p:txBody>
      </p:sp>
      <p:sp>
        <p:nvSpPr>
          <p:cNvPr id="9" name="Rounded Rectangle 8"/>
          <p:cNvSpPr/>
          <p:nvPr/>
        </p:nvSpPr>
        <p:spPr>
          <a:xfrm>
            <a:off x="731520" y="1097280"/>
            <a:ext cx="5257800"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234440"/>
            <a:ext cx="4892040" cy="4663440"/>
          </a:xfrm>
          <a:prstGeom prst="rect">
            <a:avLst/>
          </a:prstGeom>
          <a:noFill/>
        </p:spPr>
        <p:txBody>
          <a:bodyPr wrap="square">
            <a:spAutoFit/>
          </a:bodyPr>
          <a:lstStyle/>
          <a:p>
            <a:pPr>
              <a:defRPr sz="1100" b="1">
                <a:solidFill>
                  <a:srgbClr val="38BDF8"/>
                </a:solidFill>
              </a:defRPr>
            </a:pPr>
            <a:r>
              <a:t>DATASETS &amp; CURVE REGRESSION</a:t>
            </a:r>
          </a:p>
          <a:p>
            <a:pPr>
              <a:defRPr sz="1050" b="1">
                <a:solidFill>
                  <a:srgbClr val="F8FAFC"/>
                </a:solidFill>
              </a:defRPr>
            </a:pPr>
            <a:r>
              <a:t>NIST Fire Dynamics Data</a:t>
            </a:r>
          </a:p>
          <a:p>
            <a:pPr>
              <a:defRPr sz="900">
                <a:solidFill>
                  <a:srgbClr val="94A3B8"/>
                </a:solidFill>
              </a:defRPr>
            </a:pPr>
            <a:r>
              <a:t>Extracted temperature rise timelines and smoke flashover curves from National Institute of Standards and Technology public research.</a:t>
            </a:r>
          </a:p>
          <a:p>
            <a:pPr>
              <a:defRPr sz="1050" b="1">
                <a:solidFill>
                  <a:srgbClr val="F8FAFC"/>
                </a:solidFill>
              </a:defRPr>
            </a:pPr>
            <a:r>
              <a:t>Kaggle Smoke Datasets</a:t>
            </a:r>
          </a:p>
          <a:p>
            <a:pPr>
              <a:defRPr sz="900">
                <a:solidFill>
                  <a:srgbClr val="94A3B8"/>
                </a:solidFill>
              </a:defRPr>
            </a:pPr>
            <a:r>
              <a:t>Used public smoke detection time-series data to fit logistic growth curves for smoldering fire profiles.</a:t>
            </a:r>
          </a:p>
          <a:p>
            <a:pPr>
              <a:defRPr sz="1050" b="1">
                <a:solidFill>
                  <a:srgbClr val="F8FAFC"/>
                </a:solidFill>
              </a:defRPr>
            </a:pPr>
            <a:r>
              <a:t>Hyperparameter Tuning</a:t>
            </a:r>
          </a:p>
          <a:p>
            <a:pPr>
              <a:defRPr sz="900">
                <a:solidFill>
                  <a:srgbClr val="94A3B8"/>
                </a:solidFill>
              </a:defRPr>
            </a:pPr>
            <a:r>
              <a:t>Offline regression scripts under simulator/fire_profiles/ fit α=2.2 (thermal) and β=1.6 (smoke) parameters.</a:t>
            </a:r>
          </a:p>
        </p:txBody>
      </p:sp>
      <p:sp>
        <p:nvSpPr>
          <p:cNvPr id="11" name="Rounded Rectangle 10"/>
          <p:cNvSpPr/>
          <p:nvPr/>
        </p:nvSpPr>
        <p:spPr>
          <a:xfrm>
            <a:off x="6217920" y="1097280"/>
            <a:ext cx="5242255"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234440"/>
            <a:ext cx="4876495" cy="4663440"/>
          </a:xfrm>
          <a:prstGeom prst="rect">
            <a:avLst/>
          </a:prstGeom>
          <a:noFill/>
        </p:spPr>
        <p:txBody>
          <a:bodyPr wrap="square">
            <a:spAutoFit/>
          </a:bodyPr>
          <a:lstStyle/>
          <a:p>
            <a:pPr>
              <a:defRPr sz="1100" b="1">
                <a:solidFill>
                  <a:srgbClr val="34D399"/>
                </a:solidFill>
              </a:defRPr>
            </a:pPr>
            <a:r>
              <a:t>STANDARDS &amp; TECHNICAL REFERENCES</a:t>
            </a:r>
          </a:p>
          <a:p>
            <a:pPr>
              <a:defRPr sz="1050" b="1">
                <a:solidFill>
                  <a:srgbClr val="F8FAFC"/>
                </a:solidFill>
              </a:defRPr>
            </a:pPr>
            <a:r>
              <a:t>NFPA 101 Life Safety Code</a:t>
            </a:r>
          </a:p>
          <a:p>
            <a:pPr>
              <a:defRPr sz="900">
                <a:solidFill>
                  <a:srgbClr val="94A3B8"/>
                </a:solidFill>
              </a:defRPr>
            </a:pPr>
            <a:r>
              <a:t>Framed system to augment — not replace — code-mandated static illuminated exit signage in commercial facilities.</a:t>
            </a:r>
          </a:p>
          <a:p>
            <a:pPr>
              <a:defRPr sz="1050" b="1">
                <a:solidFill>
                  <a:srgbClr val="F8FAFC"/>
                </a:solidFill>
              </a:defRPr>
            </a:pPr>
            <a:r>
              <a:t>OSPF RFC 2328 Protocol</a:t>
            </a:r>
          </a:p>
          <a:p>
            <a:pPr>
              <a:defRPr sz="900">
                <a:solidFill>
                  <a:srgbClr val="94A3B8"/>
                </a:solidFill>
              </a:defRPr>
            </a:pPr>
            <a:r>
              <a:t>Applied classical link-state network graph routing concepts to physical hazard topology modeling.</a:t>
            </a:r>
          </a:p>
          <a:p>
            <a:pPr>
              <a:defRPr sz="1050" b="1">
                <a:solidFill>
                  <a:srgbClr val="F8FAFC"/>
                </a:solidFill>
              </a:defRPr>
            </a:pPr>
            <a:r>
              <a:t>FreeRTOS Dual-Core Architecture</a:t>
            </a:r>
          </a:p>
          <a:p>
            <a:pPr>
              <a:defRPr sz="900">
                <a:solidFill>
                  <a:srgbClr val="94A3B8"/>
                </a:solidFill>
              </a:defRPr>
            </a:pPr>
            <a:r>
              <a:t>Implemented lock-free double-buffered pointer swapping based on real-time embedded systems literature.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d546e5e1-5d42-4630-bacd-c69bfdcbd5e8}" enabled="1" method="Standard" siteId="{96ece526-9c7d-48b0-8daf-8b93c90a5d18}" contentBits="0" removed="0"/>
</clbl:labelList>
</file>

<file path=docProps/app.xml><?xml version="1.0" encoding="utf-8"?>
<Properties xmlns="http://schemas.openxmlformats.org/officeDocument/2006/extended-properties" xmlns:vt="http://schemas.openxmlformats.org/officeDocument/2006/docPropsVTypes">
  <TotalTime>7668</TotalTime>
  <Words>320</Words>
  <Application>Microsoft Office PowerPoint</Application>
  <PresentationFormat>Widescreen</PresentationFormat>
  <Paragraphs>60</Paragraphs>
  <Slides>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ＭＳ Ｐゴシック</vt:lpstr>
      <vt:lpstr>Arial</vt:lpstr>
      <vt:lpstr>Calibri</vt:lpstr>
      <vt:lpstr>Times New Roman</vt:lpstr>
      <vt:lpstr>TradeGothic</vt:lpstr>
      <vt:lpstr>Office Theme</vt:lpstr>
      <vt:lpstr>PowerPoint Presentation</vt:lpstr>
      <vt:lpstr>PowerPoint Presentation</vt:lpstr>
      <vt:lpstr> IDEA TITLE</vt:lpstr>
      <vt:lpstr>TECHNICAL APPROACH</vt:lpstr>
      <vt:lpstr>FEASIBILITY AND VIABILITY</vt:lpstr>
      <vt:lpstr>ARTIFACTS</vt:lpstr>
      <vt:lpstr>RESEARCH  AND REFERENCES</vt:lpstr>
    </vt:vector>
  </TitlesOfParts>
  <Manager/>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Idea Template</dc:title>
  <dc:subject/>
  <cp:keywords/>
  <dc:description/>
  <cp:lastModifiedBy>Ramesh MV (HirePro)</cp:lastModifiedBy>
  <cp:revision>153</cp:revision>
  <dcterms:created xsi:type="dcterms:W3CDTF">2013-12-12T18:46:50Z</dcterms:created>
  <dcterms:modified xsi:type="dcterms:W3CDTF">2026-07-24T16:33:04Z</dcterms:modified>
  <cp:category/>
</cp:coreProperties>
</file>